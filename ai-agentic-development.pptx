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49808" y="658368"/>
            <a:ext cx="201168" cy="36576"/>
          </a:xfrm>
          <a:prstGeom prst="rect">
            <a:avLst/>
          </a:prstGeom>
          <a:solidFill>
            <a:srgbClr val="D85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475488"/>
            <a:ext cx="2560320" cy="36576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756E66"/>
                </a:solidFill>
                <a:latin typeface="Aptos"/>
              </a:rPr>
              <a:t>OPENING PERSPECTIVE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87552"/>
            <a:ext cx="5989320" cy="228600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A26"/>
                </a:solidFill>
                <a:latin typeface="Aptos Display"/>
              </a:rPr>
              <a:t>AI-assisted development can feel like
walking into a workshop full of
unfamiliar power tools.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3456432"/>
            <a:ext cx="5440680" cy="82296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756E66"/>
                </a:solidFill>
                <a:latin typeface="Aptos"/>
              </a:rPr>
              <a:t>Useful. Powerful. Fast-moving.
Also a little intimidating until you know what each tool does and where it belongs.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175504"/>
            <a:ext cx="6263640" cy="1042415"/>
          </a:xfrm>
          <a:prstGeom prst="roundRect">
            <a:avLst/>
          </a:prstGeom>
          <a:solidFill>
            <a:srgbClr val="DFD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5102352"/>
            <a:ext cx="6263640" cy="1042415"/>
          </a:xfrm>
          <a:prstGeom prst="roundRect">
            <a:avLst/>
          </a:prstGeom>
          <a:solidFill>
            <a:srgbClr val="FFFAF1"/>
          </a:solidFill>
          <a:ln w="1651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54864"/>
          <a:lstStyle/>
          <a:p>
            <a:pPr algn="l"/>
            <a:r>
              <a:rPr sz="1100" b="1">
                <a:solidFill>
                  <a:srgbClr val="D85F45"/>
                </a:solidFill>
                <a:latin typeface="Aptos"/>
              </a:rPr>
              <a:t>Today</a:t>
            </a:r>
          </a:p>
          <a:p>
            <a:pPr algn="l">
              <a:lnSpc>
                <a:spcPct val="100000"/>
              </a:lnSpc>
            </a:pPr>
            <a:r>
              <a:rPr sz="1500" b="1">
                <a:solidFill>
                  <a:srgbClr val="2D2A26"/>
                </a:solidFill>
                <a:latin typeface="Aptos"/>
              </a:rPr>
              <a:t>shared vocabulary  |  practical workflows</a:t>
            </a:r>
          </a:p>
          <a:p>
            <a:pPr algn="l">
              <a:lnSpc>
                <a:spcPct val="100000"/>
              </a:lnSpc>
            </a:pPr>
            <a:r>
              <a:rPr sz="1500" b="1">
                <a:solidFill>
                  <a:srgbClr val="2D2A26"/>
                </a:solidFill>
                <a:latin typeface="Aptos"/>
              </a:rPr>
              <a:t>live demo  |  open floor / Q&amp;A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34656" y="932688"/>
            <a:ext cx="3749039" cy="4956048"/>
          </a:xfrm>
          <a:prstGeom prst="roundRect">
            <a:avLst/>
          </a:prstGeom>
          <a:solidFill>
            <a:srgbClr val="DFD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06640" y="859536"/>
            <a:ext cx="3749039" cy="4956048"/>
          </a:xfrm>
          <a:prstGeom prst="roundRect">
            <a:avLst/>
          </a:prstGeom>
          <a:solidFill>
            <a:srgbClr val="FFFAF1"/>
          </a:solidFill>
          <a:ln w="1651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99248" y="1170432"/>
            <a:ext cx="3154680" cy="2121408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D2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818120" y="4005072"/>
            <a:ext cx="2852928" cy="493776"/>
          </a:xfrm>
          <a:prstGeom prst="roundRect">
            <a:avLst/>
          </a:prstGeom>
          <a:solidFill>
            <a:srgbClr val="D7A632"/>
          </a:solidFill>
          <a:ln w="1524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973568" y="2057400"/>
            <a:ext cx="896112" cy="457200"/>
          </a:xfrm>
          <a:prstGeom prst="roundRect">
            <a:avLst/>
          </a:prstGeom>
          <a:solidFill>
            <a:srgbClr val="5C86B2"/>
          </a:solidFill>
          <a:ln w="1524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75320" y="2377440"/>
            <a:ext cx="201168" cy="603504"/>
          </a:xfrm>
          <a:prstGeom prst="roundRect">
            <a:avLst/>
          </a:prstGeom>
          <a:solidFill>
            <a:srgbClr val="5C86B2"/>
          </a:solidFill>
          <a:ln w="1524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sosceles Triangle 13"/>
          <p:cNvSpPr/>
          <p:nvPr/>
        </p:nvSpPr>
        <p:spPr>
          <a:xfrm rot="5400000">
            <a:off x="8759952" y="2157984"/>
            <a:ext cx="256032" cy="182880"/>
          </a:xfrm>
          <a:prstGeom prst="triangle">
            <a:avLst/>
          </a:prstGeom>
          <a:solidFill>
            <a:srgbClr val="AAAAAA"/>
          </a:solidFill>
          <a:ln w="1270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rapezoid 14"/>
          <p:cNvSpPr/>
          <p:nvPr/>
        </p:nvSpPr>
        <p:spPr>
          <a:xfrm rot="5400000">
            <a:off x="9144000" y="1920240"/>
            <a:ext cx="914400" cy="566928"/>
          </a:xfrm>
          <a:prstGeom prst="trapezoid">
            <a:avLst/>
          </a:prstGeom>
          <a:solidFill>
            <a:srgbClr val="D85F45"/>
          </a:solidFill>
          <a:ln w="1524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573768" y="2048256"/>
            <a:ext cx="164592" cy="310896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exagon 16"/>
          <p:cNvSpPr/>
          <p:nvPr/>
        </p:nvSpPr>
        <p:spPr>
          <a:xfrm>
            <a:off x="10104120" y="3310128"/>
            <a:ext cx="640080" cy="640080"/>
          </a:xfrm>
          <a:prstGeom prst="hexagon">
            <a:avLst/>
          </a:prstGeom>
          <a:solidFill>
            <a:srgbClr val="6C9B6B"/>
          </a:solidFill>
          <a:ln w="1524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341864" y="3822191"/>
            <a:ext cx="146304" cy="694944"/>
          </a:xfrm>
          <a:prstGeom prst="rect">
            <a:avLst/>
          </a:prstGeom>
          <a:solidFill>
            <a:srgbClr val="6C9B6B"/>
          </a:solidFill>
          <a:ln w="1524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16368" y="6016752"/>
            <a:ext cx="3794760" cy="45720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756E66"/>
                </a:solidFill>
                <a:latin typeface="Aptos"/>
              </a:rPr>
              <a:t>New tools arrive faster than most teams have time to fully research them.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49808" y="658368"/>
            <a:ext cx="201168" cy="36576"/>
          </a:xfrm>
          <a:prstGeom prst="rect">
            <a:avLst/>
          </a:prstGeom>
          <a:solidFill>
            <a:srgbClr val="5C8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475488"/>
            <a:ext cx="3108960" cy="36576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756E66"/>
                </a:solidFill>
                <a:latin typeface="Aptos"/>
              </a:rPr>
              <a:t>WHY THIS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87552"/>
            <a:ext cx="5303520" cy="192024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2D2A26"/>
                </a:solidFill>
                <a:latin typeface="Aptos Display"/>
              </a:rPr>
              <a:t>Most confusion comes from calling all of this just “AI.”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761488"/>
            <a:ext cx="5074920" cy="109728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0">
                <a:solidFill>
                  <a:srgbClr val="756E66"/>
                </a:solidFill>
                <a:latin typeface="Aptos"/>
              </a:rPr>
              <a:t>Once you separate the layers, the design, debugging, permissions, and safety story becomes much easier to reason about.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919472"/>
            <a:ext cx="4956048" cy="877824"/>
          </a:xfrm>
          <a:prstGeom prst="roundRect">
            <a:avLst/>
          </a:prstGeom>
          <a:solidFill>
            <a:srgbClr val="DFD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4846320"/>
            <a:ext cx="4956048" cy="877824"/>
          </a:xfrm>
          <a:prstGeom prst="roundRect">
            <a:avLst/>
          </a:prstGeom>
          <a:solidFill>
            <a:srgbClr val="FFFAF1"/>
          </a:solidFill>
          <a:ln w="1651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1800" b="1">
                <a:solidFill>
                  <a:srgbClr val="2D2A26"/>
                </a:solidFill>
                <a:latin typeface="Aptos"/>
              </a:rPr>
              <a:t>Today’s job is to separate the pieces before we judge the tools.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932688"/>
            <a:ext cx="4663440" cy="5175504"/>
          </a:xfrm>
          <a:prstGeom prst="roundRect">
            <a:avLst/>
          </a:prstGeom>
          <a:solidFill>
            <a:srgbClr val="DFD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73952" y="859536"/>
            <a:ext cx="4663440" cy="5175504"/>
          </a:xfrm>
          <a:prstGeom prst="roundRect">
            <a:avLst/>
          </a:prstGeom>
          <a:solidFill>
            <a:srgbClr val="FFFAF1"/>
          </a:solidFill>
          <a:ln w="1651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84848" y="1078992"/>
            <a:ext cx="3840480" cy="45720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D2A26"/>
                </a:solidFill>
                <a:latin typeface="Aptos"/>
              </a:rPr>
              <a:t>Think in layers, not one magic box.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84848" y="1426464"/>
            <a:ext cx="1828800" cy="27432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756E66"/>
                </a:solidFill>
                <a:latin typeface="Aptos"/>
              </a:rPr>
              <a:t>Familiar concept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45168" y="1426464"/>
            <a:ext cx="1645920" cy="27432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756E66"/>
                </a:solidFill>
                <a:latin typeface="Aptos"/>
              </a:rPr>
              <a:t>AI / agentic layer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84848" y="1755648"/>
            <a:ext cx="2084831" cy="530352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D6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l"/>
            <a:r>
              <a:rPr sz="1500">
                <a:solidFill>
                  <a:srgbClr val="756E66"/>
                </a:solidFill>
                <a:latin typeface="Aptos"/>
              </a:rPr>
              <a:t>entry point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97695" y="1755648"/>
            <a:ext cx="1938528" cy="530352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l"/>
            <a:r>
              <a:rPr sz="1550" b="1">
                <a:solidFill>
                  <a:srgbClr val="2D2A26"/>
                </a:solidFill>
                <a:latin typeface="Aptos"/>
              </a:rPr>
              <a:t>CLI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84848" y="2395728"/>
            <a:ext cx="2084831" cy="530352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D6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l"/>
            <a:r>
              <a:rPr sz="1500">
                <a:solidFill>
                  <a:srgbClr val="756E66"/>
                </a:solidFill>
                <a:latin typeface="Aptos"/>
              </a:rPr>
              <a:t>runtime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97695" y="2395728"/>
            <a:ext cx="1938528" cy="530352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l"/>
            <a:r>
              <a:rPr sz="1550" b="1">
                <a:solidFill>
                  <a:srgbClr val="2D2A26"/>
                </a:solidFill>
                <a:latin typeface="Aptos"/>
              </a:rPr>
              <a:t>harness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84848" y="3035808"/>
            <a:ext cx="2084831" cy="530352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D6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l"/>
            <a:r>
              <a:rPr sz="1500">
                <a:solidFill>
                  <a:srgbClr val="756E66"/>
                </a:solidFill>
                <a:latin typeface="Aptos"/>
              </a:rPr>
              <a:t>execution loop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97695" y="3035808"/>
            <a:ext cx="1938528" cy="530352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l"/>
            <a:r>
              <a:rPr sz="1550" b="1">
                <a:solidFill>
                  <a:srgbClr val="2D2A26"/>
                </a:solidFill>
                <a:latin typeface="Aptos"/>
              </a:rPr>
              <a:t>agent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84848" y="3675888"/>
            <a:ext cx="2084831" cy="530352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D6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l"/>
            <a:r>
              <a:rPr sz="1500">
                <a:solidFill>
                  <a:srgbClr val="756E66"/>
                </a:solidFill>
                <a:latin typeface="Aptos"/>
              </a:rPr>
              <a:t>hard boundaries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97695" y="3675888"/>
            <a:ext cx="1938528" cy="530352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l"/>
            <a:r>
              <a:rPr sz="1550" b="1">
                <a:solidFill>
                  <a:srgbClr val="2D2A26"/>
                </a:solidFill>
                <a:latin typeface="Aptos"/>
              </a:rPr>
              <a:t>rules / guardrails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84848" y="4315968"/>
            <a:ext cx="2084831" cy="530352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D6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l"/>
            <a:r>
              <a:rPr sz="1500">
                <a:solidFill>
                  <a:srgbClr val="756E66"/>
                </a:solidFill>
                <a:latin typeface="Aptos"/>
              </a:rPr>
              <a:t>reusable process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97695" y="4315968"/>
            <a:ext cx="1938528" cy="530352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l"/>
            <a:r>
              <a:rPr sz="1550" b="1">
                <a:solidFill>
                  <a:srgbClr val="2D2A26"/>
                </a:solidFill>
                <a:latin typeface="Aptos"/>
              </a:rPr>
              <a:t>skills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84848" y="4956048"/>
            <a:ext cx="2084831" cy="530352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D6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l"/>
            <a:r>
              <a:rPr sz="1500">
                <a:solidFill>
                  <a:srgbClr val="756E66"/>
                </a:solidFill>
                <a:latin typeface="Aptos"/>
              </a:rPr>
              <a:t>outside access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97695" y="4956048"/>
            <a:ext cx="1938528" cy="530352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l"/>
            <a:r>
              <a:rPr sz="1550" b="1">
                <a:solidFill>
                  <a:srgbClr val="2D2A26"/>
                </a:solidFill>
                <a:latin typeface="Aptos"/>
              </a:rPr>
              <a:t>plugins / MCP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49808" y="658368"/>
            <a:ext cx="201168" cy="36576"/>
          </a:xfrm>
          <a:prstGeom prst="rect">
            <a:avLst/>
          </a:prstGeom>
          <a:solidFill>
            <a:srgbClr val="6C9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475488"/>
            <a:ext cx="3474720" cy="36576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756E66"/>
                </a:solidFill>
                <a:latin typeface="Aptos"/>
              </a:rPr>
              <a:t>THE STACK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87552"/>
            <a:ext cx="5394960" cy="137160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D2A26"/>
                </a:solidFill>
                <a:latin typeface="Aptos Display"/>
              </a:rPr>
              <a:t>A working agent system is a stack, not one magic model call.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39112"/>
            <a:ext cx="10652760" cy="4206240"/>
          </a:xfrm>
          <a:prstGeom prst="roundRect">
            <a:avLst/>
          </a:prstGeom>
          <a:solidFill>
            <a:srgbClr val="DFD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9808" y="1965960"/>
            <a:ext cx="10652760" cy="4206240"/>
          </a:xfrm>
          <a:prstGeom prst="roundRect">
            <a:avLst/>
          </a:prstGeom>
          <a:solidFill>
            <a:srgbClr val="FFFAF1"/>
          </a:solidFill>
          <a:ln w="1651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2176272"/>
            <a:ext cx="10241280" cy="384048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D6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9260" bIns="25603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756E66"/>
                </a:solidFill>
                <a:latin typeface="Aptos"/>
              </a:rPr>
              <a:t>Cross-cutting: hooks and guardrails shape behavior across the whole system.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3063240"/>
            <a:ext cx="1097280" cy="822960"/>
          </a:xfrm>
          <a:prstGeom prst="roundRect">
            <a:avLst/>
          </a:prstGeom>
          <a:solidFill>
            <a:srgbClr val="FFFAF1"/>
          </a:solidFill>
          <a:ln w="1397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43891" bIns="38404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2D2A26"/>
                </a:solidFill>
                <a:latin typeface="Aptos"/>
              </a:rPr>
              <a:t>User</a:t>
            </a:r>
          </a:p>
        </p:txBody>
      </p:sp>
      <p:sp>
        <p:nvSpPr>
          <p:cNvPr id="9" name="Chevron 8"/>
          <p:cNvSpPr/>
          <p:nvPr/>
        </p:nvSpPr>
        <p:spPr>
          <a:xfrm>
            <a:off x="2285999" y="3355848"/>
            <a:ext cx="310896" cy="237744"/>
          </a:xfrm>
          <a:prstGeom prst="chevron">
            <a:avLst/>
          </a:prstGeom>
          <a:solidFill>
            <a:srgbClr val="756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15767" y="3063240"/>
            <a:ext cx="914400" cy="822960"/>
          </a:xfrm>
          <a:prstGeom prst="roundRect">
            <a:avLst/>
          </a:prstGeom>
          <a:solidFill>
            <a:srgbClr val="FFFAF1"/>
          </a:solidFill>
          <a:ln w="1397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43891" bIns="38404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2D2A26"/>
                </a:solidFill>
                <a:latin typeface="Aptos"/>
              </a:rPr>
              <a:t>CLI</a:t>
            </a:r>
          </a:p>
        </p:txBody>
      </p:sp>
      <p:sp>
        <p:nvSpPr>
          <p:cNvPr id="11" name="Chevron 10"/>
          <p:cNvSpPr/>
          <p:nvPr/>
        </p:nvSpPr>
        <p:spPr>
          <a:xfrm>
            <a:off x="3767327" y="3355848"/>
            <a:ext cx="310896" cy="237744"/>
          </a:xfrm>
          <a:prstGeom prst="chevron">
            <a:avLst/>
          </a:prstGeom>
          <a:solidFill>
            <a:srgbClr val="756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197095" y="3063240"/>
            <a:ext cx="1325880" cy="822960"/>
          </a:xfrm>
          <a:prstGeom prst="roundRect">
            <a:avLst/>
          </a:prstGeom>
          <a:solidFill>
            <a:srgbClr val="FFFAF1"/>
          </a:solidFill>
          <a:ln w="1397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43891" bIns="38404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2D2A26"/>
                </a:solidFill>
                <a:latin typeface="Aptos"/>
              </a:rPr>
              <a:t>Harness</a:t>
            </a:r>
          </a:p>
        </p:txBody>
      </p:sp>
      <p:sp>
        <p:nvSpPr>
          <p:cNvPr id="13" name="Chevron 12"/>
          <p:cNvSpPr/>
          <p:nvPr/>
        </p:nvSpPr>
        <p:spPr>
          <a:xfrm>
            <a:off x="5660134" y="3355848"/>
            <a:ext cx="310896" cy="237744"/>
          </a:xfrm>
          <a:prstGeom prst="chevron">
            <a:avLst/>
          </a:prstGeom>
          <a:solidFill>
            <a:srgbClr val="756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89902" y="3063240"/>
            <a:ext cx="1371600" cy="822960"/>
          </a:xfrm>
          <a:prstGeom prst="roundRect">
            <a:avLst/>
          </a:prstGeom>
          <a:solidFill>
            <a:srgbClr val="FFFAF1"/>
          </a:solidFill>
          <a:ln w="1397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43891" bIns="38404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2D2A26"/>
                </a:solidFill>
                <a:latin typeface="Aptos"/>
              </a:rPr>
              <a:t>Agent Loop</a:t>
            </a:r>
          </a:p>
        </p:txBody>
      </p:sp>
      <p:sp>
        <p:nvSpPr>
          <p:cNvPr id="15" name="Chevron 14"/>
          <p:cNvSpPr/>
          <p:nvPr/>
        </p:nvSpPr>
        <p:spPr>
          <a:xfrm>
            <a:off x="7598662" y="3355848"/>
            <a:ext cx="310896" cy="237744"/>
          </a:xfrm>
          <a:prstGeom prst="chevron">
            <a:avLst/>
          </a:prstGeom>
          <a:solidFill>
            <a:srgbClr val="756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28430" y="3063240"/>
            <a:ext cx="1005840" cy="822960"/>
          </a:xfrm>
          <a:prstGeom prst="roundRect">
            <a:avLst/>
          </a:prstGeom>
          <a:solidFill>
            <a:srgbClr val="F7F2E8"/>
          </a:solidFill>
          <a:ln w="1397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43891" bIns="38404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2D2A26"/>
                </a:solidFill>
                <a:latin typeface="Aptos"/>
              </a:rPr>
              <a:t>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370832"/>
            <a:ext cx="1097280" cy="22860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756E66"/>
                </a:solidFill>
                <a:latin typeface="Aptos"/>
              </a:rPr>
              <a:t>entry point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4370832"/>
            <a:ext cx="1188720" cy="22860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756E66"/>
                </a:solidFill>
                <a:latin typeface="Aptos"/>
              </a:rPr>
              <a:t>command surface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4370832"/>
            <a:ext cx="1371600" cy="22860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756E66"/>
                </a:solidFill>
                <a:latin typeface="Aptos"/>
              </a:rPr>
              <a:t>runtime + context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370832"/>
            <a:ext cx="1554480" cy="22860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756E66"/>
                </a:solidFill>
                <a:latin typeface="Aptos"/>
              </a:rPr>
              <a:t>goal-seeking loop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4370832"/>
            <a:ext cx="1188720" cy="22860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756E66"/>
                </a:solidFill>
                <a:latin typeface="Aptos"/>
              </a:rPr>
              <a:t>generation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5074920" y="4498848"/>
            <a:ext cx="256032" cy="310896"/>
          </a:xfrm>
          <a:prstGeom prst="downArrow">
            <a:avLst/>
          </a:prstGeom>
          <a:solidFill>
            <a:srgbClr val="756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Up Arrow 22"/>
          <p:cNvSpPr/>
          <p:nvPr/>
        </p:nvSpPr>
        <p:spPr>
          <a:xfrm>
            <a:off x="6510528" y="4498848"/>
            <a:ext cx="256032" cy="310896"/>
          </a:xfrm>
          <a:prstGeom prst="upArrow">
            <a:avLst/>
          </a:prstGeom>
          <a:solidFill>
            <a:srgbClr val="756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590288" y="4754880"/>
            <a:ext cx="2651760" cy="658368"/>
          </a:xfrm>
          <a:prstGeom prst="roundRect">
            <a:avLst/>
          </a:prstGeom>
          <a:solidFill>
            <a:srgbClr val="F7F2E8"/>
          </a:solidFill>
          <a:ln w="1397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2003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2D2A26"/>
                </a:solidFill>
                <a:latin typeface="Aptos"/>
              </a:rPr>
              <a:t>Tools / Systems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62272" y="5468112"/>
            <a:ext cx="2926080" cy="256032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756E66"/>
                </a:solidFill>
                <a:latin typeface="Aptos"/>
              </a:rPr>
              <a:t>outside access managed through the harness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5669280"/>
            <a:ext cx="9875520" cy="320040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D6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1945" bIns="19202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756E66"/>
                </a:solidFill>
                <a:latin typeface="Aptos"/>
              </a:rPr>
              <a:t>Skills shape repeatable workflow behavior. Plugins and MCP define how outside systems are reached.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49808" y="658368"/>
            <a:ext cx="201168" cy="36576"/>
          </a:xfrm>
          <a:prstGeom prst="rect">
            <a:avLst/>
          </a:prstGeom>
          <a:solidFill>
            <a:srgbClr val="D85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475488"/>
            <a:ext cx="3474720" cy="36576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756E66"/>
                </a:solidFill>
                <a:latin typeface="Aptos"/>
              </a:rPr>
              <a:t>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87552"/>
            <a:ext cx="5257800" cy="137160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D2A26"/>
                </a:solidFill>
                <a:latin typeface="Aptos Display"/>
              </a:rPr>
              <a:t>The model is the part that generates the next output from the input it sees.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057400"/>
            <a:ext cx="5349240" cy="82296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0">
                <a:solidFill>
                  <a:srgbClr val="756E66"/>
                </a:solidFill>
                <a:latin typeface="Aptos"/>
              </a:rPr>
              <a:t>Powerful, but not the whole 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3063240"/>
            <a:ext cx="1828800" cy="22860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756E66"/>
                </a:solidFill>
                <a:latin typeface="Aptos"/>
              </a:rPr>
              <a:t>Provider 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" y="3319272"/>
            <a:ext cx="822960" cy="329184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D6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43891" bIns="38404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D2A26"/>
                </a:solidFill>
                <a:latin typeface="Aptos"/>
              </a:rPr>
              <a:t>OpenAI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00784" y="3319272"/>
            <a:ext cx="1001268" cy="329184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D6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43891" bIns="38404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D2A26"/>
                </a:solidFill>
                <a:latin typeface="Aptos"/>
              </a:rPr>
              <a:t>Anthropic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11779" y="3319272"/>
            <a:ext cx="822960" cy="329184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D6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43891" bIns="38404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D2A26"/>
                </a:solidFill>
                <a:latin typeface="Aptos"/>
              </a:rPr>
              <a:t>Google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3657600"/>
            <a:ext cx="1828800" cy="22860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756E66"/>
                </a:solidFill>
                <a:latin typeface="Aptos"/>
              </a:rPr>
              <a:t>Model families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" y="3913632"/>
            <a:ext cx="822960" cy="329184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D6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43891" bIns="38404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D2A26"/>
                </a:solidFill>
                <a:latin typeface="Aptos"/>
              </a:rPr>
              <a:t>GPT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00784" y="3913632"/>
            <a:ext cx="822960" cy="329184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D6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43891" bIns="38404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D2A26"/>
                </a:solidFill>
                <a:latin typeface="Aptos"/>
              </a:rPr>
              <a:t>Claude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33472" y="3913632"/>
            <a:ext cx="822960" cy="329184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D6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43891" bIns="38404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D2A26"/>
                </a:solidFill>
                <a:latin typeface="Aptos"/>
              </a:rPr>
              <a:t>Gemini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28232" y="1261872"/>
            <a:ext cx="4572000" cy="4526280"/>
          </a:xfrm>
          <a:prstGeom prst="roundRect">
            <a:avLst/>
          </a:prstGeom>
          <a:solidFill>
            <a:srgbClr val="DFD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55080" y="1188720"/>
            <a:ext cx="4572000" cy="4526280"/>
          </a:xfrm>
          <a:prstGeom prst="roundRect">
            <a:avLst/>
          </a:prstGeom>
          <a:solidFill>
            <a:srgbClr val="FFFAF1"/>
          </a:solidFill>
          <a:ln w="1651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656832" y="2148840"/>
            <a:ext cx="1051560" cy="1097280"/>
          </a:xfrm>
          <a:prstGeom prst="roundRect">
            <a:avLst/>
          </a:prstGeom>
          <a:solidFill>
            <a:srgbClr val="F7F2E8"/>
          </a:solidFill>
          <a:ln w="1397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87782" bIns="76809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2D2A26"/>
                </a:solidFill>
                <a:latin typeface="Aptos"/>
              </a:rPr>
              <a:t>input
context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1828800"/>
            <a:ext cx="1280160" cy="1737360"/>
          </a:xfrm>
          <a:prstGeom prst="roundRect">
            <a:avLst/>
          </a:prstGeom>
          <a:solidFill>
            <a:srgbClr val="FFFAF1"/>
          </a:solidFill>
          <a:ln w="1397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87782" bIns="76809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2D2A26"/>
                </a:solidFill>
                <a:latin typeface="Aptos"/>
              </a:rPr>
              <a:t>model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8672" y="2148840"/>
            <a:ext cx="1051560" cy="1097280"/>
          </a:xfrm>
          <a:prstGeom prst="roundRect">
            <a:avLst/>
          </a:prstGeom>
          <a:solidFill>
            <a:srgbClr val="F7F2E8"/>
          </a:solidFill>
          <a:ln w="1397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87782" bIns="76809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2D2A26"/>
                </a:solidFill>
                <a:latin typeface="Aptos"/>
              </a:rPr>
              <a:t>next
output</a:t>
            </a:r>
          </a:p>
        </p:txBody>
      </p:sp>
      <p:sp>
        <p:nvSpPr>
          <p:cNvPr id="19" name="Chevron 18"/>
          <p:cNvSpPr/>
          <p:nvPr/>
        </p:nvSpPr>
        <p:spPr>
          <a:xfrm>
            <a:off x="7790688" y="2551176"/>
            <a:ext cx="292608" cy="219456"/>
          </a:xfrm>
          <a:prstGeom prst="chevron">
            <a:avLst/>
          </a:prstGeom>
          <a:solidFill>
            <a:srgbClr val="756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hevron 19"/>
          <p:cNvSpPr/>
          <p:nvPr/>
        </p:nvSpPr>
        <p:spPr>
          <a:xfrm>
            <a:off x="9564624" y="2551176"/>
            <a:ext cx="292608" cy="219456"/>
          </a:xfrm>
          <a:prstGeom prst="chevron">
            <a:avLst/>
          </a:prstGeom>
          <a:solidFill>
            <a:srgbClr val="756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903720" y="4160520"/>
            <a:ext cx="3474720" cy="493776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D6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9260" bIns="25603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756E66"/>
                </a:solidFill>
                <a:latin typeface="Aptos"/>
              </a:rPr>
              <a:t>It generates. It does not automatically own tools, memory, or permissions.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49808" y="658368"/>
            <a:ext cx="201168" cy="36576"/>
          </a:xfrm>
          <a:prstGeom prst="rect">
            <a:avLst/>
          </a:prstGeom>
          <a:solidFill>
            <a:srgbClr val="5C8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475488"/>
            <a:ext cx="3474720" cy="36576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756E66"/>
                </a:solidFill>
                <a:latin typeface="Aptos"/>
              </a:rPr>
              <a:t>HARNESS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87552"/>
            <a:ext cx="5074920" cy="137160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D2A26"/>
                </a:solidFill>
                <a:latin typeface="Aptos Display"/>
              </a:rPr>
              <a:t>The harness is the runtime around the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057400"/>
            <a:ext cx="5166359" cy="82296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0">
                <a:solidFill>
                  <a:srgbClr val="756E66"/>
                </a:solidFill>
                <a:latin typeface="Aptos"/>
              </a:rPr>
              <a:t>It manages context, tools, retries, approvals, and execution flow.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3200400"/>
            <a:ext cx="1828800" cy="22860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756E66"/>
                </a:solidFill>
                <a:latin typeface="Aptos"/>
              </a:rPr>
              <a:t>Runtime 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" y="3456432"/>
            <a:ext cx="1138428" cy="329184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D6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43891" bIns="38404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D2A26"/>
                </a:solidFill>
                <a:latin typeface="Aptos"/>
              </a:rPr>
              <a:t>Claude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6251" y="3456432"/>
            <a:ext cx="1138428" cy="329184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D6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43891" bIns="38404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D2A26"/>
                </a:solidFill>
                <a:latin typeface="Aptos"/>
              </a:rPr>
              <a:t>Copilot CLI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4406" y="3456432"/>
            <a:ext cx="1001268" cy="329184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D6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43891" bIns="38404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D2A26"/>
                </a:solidFill>
                <a:latin typeface="Aptos"/>
              </a:rPr>
              <a:t>Codex CLI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216152"/>
            <a:ext cx="4892040" cy="4754880"/>
          </a:xfrm>
          <a:prstGeom prst="roundRect">
            <a:avLst/>
          </a:prstGeom>
          <a:solidFill>
            <a:srgbClr val="DFD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26480" y="1143000"/>
            <a:ext cx="4892040" cy="4754880"/>
          </a:xfrm>
          <a:prstGeom prst="roundRect">
            <a:avLst/>
          </a:prstGeom>
          <a:solidFill>
            <a:srgbClr val="FFFAF1"/>
          </a:solidFill>
          <a:ln w="1651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973568" y="2514600"/>
            <a:ext cx="1280160" cy="749808"/>
          </a:xfrm>
          <a:prstGeom prst="roundRect">
            <a:avLst/>
          </a:prstGeom>
          <a:solidFill>
            <a:srgbClr val="FFFAF1"/>
          </a:solidFill>
          <a:ln w="1524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87782" bIns="76809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2D2A26"/>
                </a:solidFill>
                <a:latin typeface="Aptos"/>
              </a:rPr>
              <a:t>Harness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84848" y="1664208"/>
            <a:ext cx="1097280" cy="512064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D6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9260" bIns="25603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756E66"/>
                </a:solidFill>
                <a:latin typeface="Aptos"/>
              </a:rPr>
              <a:t>Context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08592" y="1664208"/>
            <a:ext cx="1097280" cy="512064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D6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9260" bIns="25603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756E66"/>
                </a:solidFill>
                <a:latin typeface="Aptos"/>
              </a:rPr>
              <a:t>Tools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29400" y="3840480"/>
            <a:ext cx="1097280" cy="512064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D6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9260" bIns="25603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756E66"/>
                </a:solidFill>
                <a:latin typeface="Aptos"/>
              </a:rPr>
              <a:t>Retries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72600" y="3840480"/>
            <a:ext cx="1097280" cy="512064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D6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9260" bIns="25603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756E66"/>
                </a:solidFill>
                <a:latin typeface="Aptos"/>
              </a:rPr>
              <a:t>Approvals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36992" y="4133087"/>
            <a:ext cx="1097280" cy="512064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D6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9260" bIns="25603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756E66"/>
                </a:solidFill>
                <a:latin typeface="Aptos"/>
              </a:rPr>
              <a:t>Logs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5074920"/>
            <a:ext cx="4069080" cy="50292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756E66"/>
                </a:solidFill>
                <a:latin typeface="Aptos"/>
              </a:rPr>
              <a:t>Without this layer, you mostly just have a model call.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49808" y="658368"/>
            <a:ext cx="201168" cy="36576"/>
          </a:xfrm>
          <a:prstGeom prst="rect">
            <a:avLst/>
          </a:prstGeom>
          <a:solidFill>
            <a:srgbClr val="6C9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475488"/>
            <a:ext cx="3474720" cy="36576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756E66"/>
                </a:solidFill>
                <a:latin typeface="Aptos"/>
              </a:rPr>
              <a:t>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87552"/>
            <a:ext cx="5349240" cy="137160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D2A26"/>
                </a:solidFill>
                <a:latin typeface="Aptos Display"/>
              </a:rPr>
              <a:t>An agent is the goal-seeking loop that keeps going until the task is done or must stop.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057400"/>
            <a:ext cx="5440679" cy="82296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0">
                <a:solidFill>
                  <a:srgbClr val="756E66"/>
                </a:solidFill>
                <a:latin typeface="Aptos"/>
              </a:rPr>
              <a:t>Think loop, not magic teammate.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3218688"/>
            <a:ext cx="1828800" cy="22860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756E66"/>
                </a:solidFill>
                <a:latin typeface="Aptos"/>
              </a:rPr>
              <a:t>Contrast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" y="3474720"/>
            <a:ext cx="1549907" cy="329184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D6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43891" bIns="38404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D2A26"/>
                </a:solidFill>
                <a:latin typeface="Aptos"/>
              </a:rPr>
              <a:t>single model call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27732" y="3474720"/>
            <a:ext cx="2194560" cy="329184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D6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43891" bIns="38404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D2A26"/>
                </a:solidFill>
                <a:latin typeface="Aptos"/>
              </a:rPr>
              <a:t>coding agent investigating a bug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82512" y="1216152"/>
            <a:ext cx="4709160" cy="4709160"/>
          </a:xfrm>
          <a:prstGeom prst="roundRect">
            <a:avLst/>
          </a:prstGeom>
          <a:solidFill>
            <a:srgbClr val="DFD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09360" y="1143000"/>
            <a:ext cx="4709160" cy="4709160"/>
          </a:xfrm>
          <a:prstGeom prst="roundRect">
            <a:avLst/>
          </a:prstGeom>
          <a:solidFill>
            <a:srgbClr val="FFFAF1"/>
          </a:solidFill>
          <a:ln w="1651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138160" y="2743200"/>
            <a:ext cx="1051560" cy="1051560"/>
          </a:xfrm>
          <a:prstGeom prst="ellipse">
            <a:avLst/>
          </a:prstGeom>
          <a:solidFill>
            <a:srgbClr val="F7F2E8"/>
          </a:solidFill>
          <a:ln w="1524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8521" bIns="51206"/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2D2A26"/>
                </a:solidFill>
                <a:latin typeface="Aptos"/>
              </a:rPr>
              <a:t>task</a:t>
            </a:r>
          </a:p>
        </p:txBody>
      </p:sp>
      <p:sp>
        <p:nvSpPr>
          <p:cNvPr id="12" name="Oval 11"/>
          <p:cNvSpPr/>
          <p:nvPr/>
        </p:nvSpPr>
        <p:spPr>
          <a:xfrm>
            <a:off x="8183879" y="1600200"/>
            <a:ext cx="960120" cy="960120"/>
          </a:xfrm>
          <a:prstGeom prst="ellipse">
            <a:avLst/>
          </a:prstGeom>
          <a:solidFill>
            <a:srgbClr val="FFFAF1"/>
          </a:solidFill>
          <a:ln w="1524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8521" bIns="51206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D2A26"/>
                </a:solidFill>
                <a:latin typeface="Aptos"/>
              </a:rPr>
              <a:t>reason</a:t>
            </a:r>
          </a:p>
        </p:txBody>
      </p:sp>
      <p:sp>
        <p:nvSpPr>
          <p:cNvPr id="13" name="Oval 12"/>
          <p:cNvSpPr/>
          <p:nvPr/>
        </p:nvSpPr>
        <p:spPr>
          <a:xfrm>
            <a:off x="9464040" y="2788920"/>
            <a:ext cx="960120" cy="960120"/>
          </a:xfrm>
          <a:prstGeom prst="ellipse">
            <a:avLst/>
          </a:prstGeom>
          <a:solidFill>
            <a:srgbClr val="FFFAF1"/>
          </a:solidFill>
          <a:ln w="1524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8521" bIns="51206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2D2A26"/>
                </a:solidFill>
                <a:latin typeface="Aptos"/>
              </a:rPr>
              <a:t>use
tools</a:t>
            </a:r>
          </a:p>
        </p:txBody>
      </p:sp>
      <p:sp>
        <p:nvSpPr>
          <p:cNvPr id="14" name="Oval 13"/>
          <p:cNvSpPr/>
          <p:nvPr/>
        </p:nvSpPr>
        <p:spPr>
          <a:xfrm>
            <a:off x="8183879" y="4005072"/>
            <a:ext cx="960120" cy="960120"/>
          </a:xfrm>
          <a:prstGeom prst="ellipse">
            <a:avLst/>
          </a:prstGeom>
          <a:solidFill>
            <a:srgbClr val="FFFAF1"/>
          </a:solidFill>
          <a:ln w="1524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8521" bIns="51206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D2A26"/>
                </a:solidFill>
                <a:latin typeface="Aptos"/>
              </a:rPr>
              <a:t>inspect</a:t>
            </a:r>
          </a:p>
        </p:txBody>
      </p:sp>
      <p:sp>
        <p:nvSpPr>
          <p:cNvPr id="15" name="Oval 14"/>
          <p:cNvSpPr/>
          <p:nvPr/>
        </p:nvSpPr>
        <p:spPr>
          <a:xfrm>
            <a:off x="6876288" y="2788920"/>
            <a:ext cx="960120" cy="960120"/>
          </a:xfrm>
          <a:prstGeom prst="ellipse">
            <a:avLst/>
          </a:prstGeom>
          <a:solidFill>
            <a:srgbClr val="FFFAF1"/>
          </a:solidFill>
          <a:ln w="1524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8521" bIns="51206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D2A26"/>
                </a:solidFill>
                <a:latin typeface="Aptos"/>
              </a:rPr>
              <a:t>continue
or stop</a:t>
            </a:r>
          </a:p>
        </p:txBody>
      </p:sp>
      <p:sp>
        <p:nvSpPr>
          <p:cNvPr id="16" name="Chevron 15"/>
          <p:cNvSpPr/>
          <p:nvPr/>
        </p:nvSpPr>
        <p:spPr>
          <a:xfrm>
            <a:off x="9144000" y="2331720"/>
            <a:ext cx="292608" cy="201168"/>
          </a:xfrm>
          <a:prstGeom prst="chevron">
            <a:avLst/>
          </a:prstGeom>
          <a:solidFill>
            <a:srgbClr val="756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9144000" y="3675887"/>
            <a:ext cx="292608" cy="201168"/>
          </a:xfrm>
          <a:prstGeom prst="chevron">
            <a:avLst/>
          </a:prstGeom>
          <a:solidFill>
            <a:srgbClr val="756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evron 17"/>
          <p:cNvSpPr/>
          <p:nvPr/>
        </p:nvSpPr>
        <p:spPr>
          <a:xfrm>
            <a:off x="7635240" y="3675887"/>
            <a:ext cx="292608" cy="201168"/>
          </a:xfrm>
          <a:prstGeom prst="chevron">
            <a:avLst/>
          </a:prstGeom>
          <a:solidFill>
            <a:srgbClr val="756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evron 18"/>
          <p:cNvSpPr/>
          <p:nvPr/>
        </p:nvSpPr>
        <p:spPr>
          <a:xfrm>
            <a:off x="7635240" y="2331720"/>
            <a:ext cx="292608" cy="201168"/>
          </a:xfrm>
          <a:prstGeom prst="chevron">
            <a:avLst/>
          </a:prstGeom>
          <a:solidFill>
            <a:srgbClr val="756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49808" y="658368"/>
            <a:ext cx="201168" cy="36576"/>
          </a:xfrm>
          <a:prstGeom prst="rect">
            <a:avLst/>
          </a:prstGeom>
          <a:solidFill>
            <a:srgbClr val="5C8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475488"/>
            <a:ext cx="3474720" cy="36576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756E66"/>
                </a:solidFill>
                <a:latin typeface="Aptos"/>
              </a:rPr>
              <a:t>SUBAGENTS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87552"/>
            <a:ext cx="5486400" cy="137160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D2A26"/>
                </a:solidFill>
                <a:latin typeface="Aptos Display"/>
              </a:rPr>
              <a:t>Subagents are delegated workers for bounded, independent tasks.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3035808"/>
            <a:ext cx="1828800" cy="22860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756E66"/>
                </a:solidFill>
                <a:latin typeface="Aptos"/>
              </a:rPr>
              <a:t>Useful for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" y="3291840"/>
            <a:ext cx="1549907" cy="329184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D6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43891" bIns="38404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D2A26"/>
                </a:solidFill>
                <a:latin typeface="Aptos"/>
              </a:rPr>
              <a:t>parallel research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27732" y="3291840"/>
            <a:ext cx="1549907" cy="329184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D6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43891" bIns="38404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D2A26"/>
                </a:solidFill>
                <a:latin typeface="Aptos"/>
              </a:rPr>
              <a:t>verification pass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" y="3730752"/>
            <a:ext cx="1961388" cy="329184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D6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43891" bIns="38404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D2A26"/>
                </a:solidFill>
                <a:latin typeface="Aptos"/>
              </a:rPr>
              <a:t>separate file ownership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6968" y="3794759"/>
            <a:ext cx="2514600" cy="1737360"/>
          </a:xfrm>
          <a:prstGeom prst="roundRect">
            <a:avLst/>
          </a:prstGeom>
          <a:solidFill>
            <a:srgbClr val="DFD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1248" y="3749039"/>
            <a:ext cx="2514600" cy="1737360"/>
          </a:xfrm>
          <a:prstGeom prst="roundRect">
            <a:avLst/>
          </a:prstGeom>
          <a:solidFill>
            <a:srgbClr val="FFFAF1"/>
          </a:solidFill>
          <a:ln w="1397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0704" y="4005072"/>
            <a:ext cx="1645920" cy="256032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2D2A26"/>
                </a:solidFill>
                <a:latin typeface="Aptos"/>
              </a:rPr>
              <a:t>Good 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4343400"/>
            <a:ext cx="2011680" cy="82296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756E66"/>
                </a:solidFill>
                <a:latin typeface="Aptos"/>
              </a:rPr>
              <a:t>parallel work
clear ownership
non-blocking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" y="5605272"/>
            <a:ext cx="2514600" cy="868680"/>
          </a:xfrm>
          <a:prstGeom prst="roundRect">
            <a:avLst/>
          </a:prstGeom>
          <a:solidFill>
            <a:srgbClr val="DFD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1248" y="5559552"/>
            <a:ext cx="2514600" cy="868680"/>
          </a:xfrm>
          <a:prstGeom prst="roundRect">
            <a:avLst/>
          </a:prstGeom>
          <a:solidFill>
            <a:srgbClr val="FFFAF1"/>
          </a:solidFill>
          <a:ln w="1397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" y="5742432"/>
            <a:ext cx="914400" cy="219456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2D2A26"/>
                </a:solidFill>
                <a:latin typeface="Aptos"/>
              </a:rPr>
              <a:t>Bad fit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10512" y="5742432"/>
            <a:ext cx="1325880" cy="219456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756E66"/>
                </a:solidFill>
                <a:latin typeface="Aptos"/>
              </a:rPr>
              <a:t>critical path work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0832" y="2011680"/>
            <a:ext cx="6903720" cy="4407408"/>
          </a:xfrm>
          <a:prstGeom prst="roundRect">
            <a:avLst/>
          </a:prstGeom>
          <a:solidFill>
            <a:srgbClr val="DFD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97680" y="1938528"/>
            <a:ext cx="6903720" cy="4407408"/>
          </a:xfrm>
          <a:prstGeom prst="roundRect">
            <a:avLst/>
          </a:prstGeom>
          <a:solidFill>
            <a:srgbClr val="FFFAF1"/>
          </a:solidFill>
          <a:ln w="1651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39712" y="3310128"/>
            <a:ext cx="1828800" cy="768096"/>
          </a:xfrm>
          <a:prstGeom prst="roundRect">
            <a:avLst/>
          </a:prstGeom>
          <a:solidFill>
            <a:srgbClr val="F7F2E8"/>
          </a:solidFill>
          <a:ln w="1397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87782" bIns="76809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2D2A26"/>
                </a:solidFill>
                <a:latin typeface="Aptos"/>
              </a:rPr>
              <a:t>Main agent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74920" y="2377440"/>
            <a:ext cx="1463040" cy="658368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9260" bIns="25603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2D2A26"/>
                </a:solidFill>
                <a:latin typeface="Aptos"/>
              </a:rPr>
              <a:t>Subagent 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3108960"/>
            <a:ext cx="1600200" cy="292608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756E66"/>
                </a:solidFill>
                <a:latin typeface="Aptos"/>
              </a:rPr>
              <a:t>search codebase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87968" y="2377440"/>
            <a:ext cx="1463040" cy="658368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9260" bIns="25603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2D2A26"/>
                </a:solidFill>
                <a:latin typeface="Aptos"/>
              </a:rPr>
              <a:t>Subagent 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42248" y="3108960"/>
            <a:ext cx="1600200" cy="292608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756E66"/>
                </a:solidFill>
                <a:latin typeface="Aptos"/>
              </a:rPr>
              <a:t>verify approach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12864" y="4590288"/>
            <a:ext cx="1463040" cy="658368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9260" bIns="25603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2D2A26"/>
                </a:solidFill>
                <a:latin typeface="Aptos"/>
              </a:rPr>
              <a:t>Subagent 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7144" y="5321808"/>
            <a:ext cx="1600200" cy="292608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756E66"/>
                </a:solidFill>
                <a:latin typeface="Aptos"/>
              </a:rPr>
              <a:t>own one file set</a:t>
            </a:r>
          </a:p>
        </p:txBody>
      </p:sp>
      <p:sp>
        <p:nvSpPr>
          <p:cNvPr id="26" name="Chevron 25"/>
          <p:cNvSpPr/>
          <p:nvPr/>
        </p:nvSpPr>
        <p:spPr>
          <a:xfrm>
            <a:off x="6473952" y="3127248"/>
            <a:ext cx="274320" cy="182880"/>
          </a:xfrm>
          <a:prstGeom prst="chevron">
            <a:avLst/>
          </a:prstGeom>
          <a:solidFill>
            <a:srgbClr val="756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Left Arrow 26"/>
          <p:cNvSpPr/>
          <p:nvPr/>
        </p:nvSpPr>
        <p:spPr>
          <a:xfrm>
            <a:off x="8412480" y="3127248"/>
            <a:ext cx="329184" cy="201168"/>
          </a:xfrm>
          <a:prstGeom prst="leftArrow">
            <a:avLst/>
          </a:prstGeom>
          <a:solidFill>
            <a:srgbClr val="756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own Arrow 27"/>
          <p:cNvSpPr/>
          <p:nvPr/>
        </p:nvSpPr>
        <p:spPr>
          <a:xfrm>
            <a:off x="7424927" y="4133087"/>
            <a:ext cx="219456" cy="347472"/>
          </a:xfrm>
          <a:prstGeom prst="downArrow">
            <a:avLst/>
          </a:prstGeom>
          <a:solidFill>
            <a:srgbClr val="756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own Arrow 28"/>
          <p:cNvSpPr/>
          <p:nvPr/>
        </p:nvSpPr>
        <p:spPr>
          <a:xfrm>
            <a:off x="7882127" y="4133087"/>
            <a:ext cx="219456" cy="347472"/>
          </a:xfrm>
          <a:prstGeom prst="downArrow">
            <a:avLst/>
          </a:prstGeom>
          <a:solidFill>
            <a:srgbClr val="756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047488" y="5623560"/>
            <a:ext cx="4983480" cy="438912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D6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9260" bIns="25603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756E66"/>
                </a:solidFill>
                <a:latin typeface="Aptos"/>
              </a:rPr>
              <a:t>Best when tasks are independent. Coordination overhead is real.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49808" y="658368"/>
            <a:ext cx="201168" cy="36576"/>
          </a:xfrm>
          <a:prstGeom prst="rect">
            <a:avLst/>
          </a:prstGeom>
          <a:solidFill>
            <a:srgbClr val="D85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475488"/>
            <a:ext cx="3474720" cy="36576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756E66"/>
                </a:solidFill>
                <a:latin typeface="Aptos"/>
              </a:rPr>
              <a:t>REQUEST / INSTRUCTIONS /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87552"/>
            <a:ext cx="5486400" cy="137160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D2A26"/>
                </a:solidFill>
                <a:latin typeface="Aptos Display"/>
              </a:rPr>
              <a:t>Request, instructions, and rules are not the same thing.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30552"/>
            <a:ext cx="2834640" cy="3246120"/>
          </a:xfrm>
          <a:prstGeom prst="roundRect">
            <a:avLst/>
          </a:prstGeom>
          <a:solidFill>
            <a:srgbClr val="DFD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9808" y="2057400"/>
            <a:ext cx="2834640" cy="3246120"/>
          </a:xfrm>
          <a:prstGeom prst="roundRect">
            <a:avLst/>
          </a:prstGeom>
          <a:solidFill>
            <a:srgbClr val="FFFAF1"/>
          </a:solidFill>
          <a:ln w="1651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32688" y="2267712"/>
            <a:ext cx="256032" cy="45720"/>
          </a:xfrm>
          <a:prstGeom prst="rect">
            <a:avLst/>
          </a:prstGeom>
          <a:solidFill>
            <a:srgbClr val="D85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404872"/>
            <a:ext cx="2423160" cy="36576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D2A26"/>
                </a:solidFill>
                <a:latin typeface="Aptos"/>
              </a:rPr>
              <a:t>Request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788920"/>
            <a:ext cx="2468880" cy="109728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20" b="0">
                <a:solidFill>
                  <a:srgbClr val="756E66"/>
                </a:solidFill>
                <a:latin typeface="Aptos"/>
              </a:rPr>
              <a:t>The current task for this run.
Think: the order ticket for this one meal.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224528"/>
            <a:ext cx="1828800" cy="22860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756E66"/>
                </a:solidFill>
                <a:latin typeface="Aptos"/>
              </a:rPr>
              <a:t>Example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" y="4480560"/>
            <a:ext cx="1207007" cy="329184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D6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43891" bIns="38404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D2A26"/>
                </a:solidFill>
                <a:latin typeface="Aptos"/>
              </a:rPr>
              <a:t>current task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39" y="2130552"/>
            <a:ext cx="2834640" cy="3246120"/>
          </a:xfrm>
          <a:prstGeom prst="roundRect">
            <a:avLst/>
          </a:prstGeom>
          <a:solidFill>
            <a:srgbClr val="DFD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133087" y="2057400"/>
            <a:ext cx="2834640" cy="3246120"/>
          </a:xfrm>
          <a:prstGeom prst="roundRect">
            <a:avLst/>
          </a:prstGeom>
          <a:solidFill>
            <a:srgbClr val="FFFAF1"/>
          </a:solidFill>
          <a:ln w="1651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5967" y="2267712"/>
            <a:ext cx="256032" cy="45720"/>
          </a:xfrm>
          <a:prstGeom prst="rect">
            <a:avLst/>
          </a:prstGeom>
          <a:solidFill>
            <a:srgbClr val="5C8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15967" y="2404872"/>
            <a:ext cx="2423160" cy="36576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D2A26"/>
                </a:solidFill>
                <a:latin typeface="Aptos"/>
              </a:rPr>
              <a:t>Instructions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15967" y="2788920"/>
            <a:ext cx="2468880" cy="109728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20" b="0">
                <a:solidFill>
                  <a:srgbClr val="756E66"/>
                </a:solidFill>
                <a:latin typeface="Aptos"/>
              </a:rPr>
              <a:t>Standing guidance loaded around every task.
Think: the station card pinned above the counter.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5967" y="4224528"/>
            <a:ext cx="1828800" cy="22860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756E66"/>
                </a:solidFill>
                <a:latin typeface="Aptos"/>
              </a:rPr>
              <a:t>Example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5967" y="4480560"/>
            <a:ext cx="1755648" cy="329184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D6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43891" bIns="38404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D2A26"/>
                </a:solidFill>
                <a:latin typeface="Aptos"/>
              </a:rPr>
              <a:t>copilot-instructions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15967" y="4919472"/>
            <a:ext cx="1618487" cy="329184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D6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43891" bIns="38404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D2A26"/>
                </a:solidFill>
                <a:latin typeface="Aptos"/>
              </a:rPr>
              <a:t>project-context.md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2130552"/>
            <a:ext cx="2834640" cy="3246120"/>
          </a:xfrm>
          <a:prstGeom prst="roundRect">
            <a:avLst/>
          </a:prstGeom>
          <a:solidFill>
            <a:srgbClr val="DFD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516368" y="2057400"/>
            <a:ext cx="2834640" cy="3246120"/>
          </a:xfrm>
          <a:prstGeom prst="roundRect">
            <a:avLst/>
          </a:prstGeom>
          <a:solidFill>
            <a:srgbClr val="FFFAF1"/>
          </a:solidFill>
          <a:ln w="1651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99248" y="2267712"/>
            <a:ext cx="256032" cy="45720"/>
          </a:xfrm>
          <a:prstGeom prst="rect">
            <a:avLst/>
          </a:prstGeom>
          <a:solidFill>
            <a:srgbClr val="6C9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9248" y="2404872"/>
            <a:ext cx="2423160" cy="36576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D2A26"/>
                </a:solidFill>
                <a:latin typeface="Aptos"/>
              </a:rPr>
              <a:t>Rules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99248" y="2788920"/>
            <a:ext cx="2468880" cy="109728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20" b="0">
                <a:solidFill>
                  <a:srgbClr val="756E66"/>
                </a:solidFill>
                <a:latin typeface="Aptos"/>
              </a:rPr>
              <a:t>Non-negotiable boundaries the system cannot violate.
Think: the health code or thermometer threshold.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9248" y="4224528"/>
            <a:ext cx="1828800" cy="22860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756E66"/>
                </a:solidFill>
                <a:latin typeface="Aptos"/>
              </a:rPr>
              <a:t>Example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99248" y="4480560"/>
            <a:ext cx="1207007" cy="329184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D6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43891" bIns="38404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D2A26"/>
                </a:solidFill>
                <a:latin typeface="Aptos"/>
              </a:rPr>
              <a:t>must be safe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99248" y="4919472"/>
            <a:ext cx="1549907" cy="329184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D6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43891" bIns="38404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D2A26"/>
                </a:solidFill>
                <a:latin typeface="Aptos"/>
              </a:rPr>
              <a:t>approval required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49808" y="658368"/>
            <a:ext cx="201168" cy="36576"/>
          </a:xfrm>
          <a:prstGeom prst="rect">
            <a:avLst/>
          </a:prstGeom>
          <a:solidFill>
            <a:srgbClr val="D7A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475488"/>
            <a:ext cx="3474720" cy="36576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756E66"/>
                </a:solidFill>
                <a:latin typeface="Aptos"/>
              </a:rPr>
              <a:t>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87552"/>
            <a:ext cx="5349240" cy="137160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D2A26"/>
                </a:solidFill>
                <a:latin typeface="Aptos Display"/>
              </a:rPr>
              <a:t>A skill is a reusable way of doing a known task well.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057400"/>
            <a:ext cx="5440679" cy="82296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0">
                <a:solidFill>
                  <a:srgbClr val="756E66"/>
                </a:solidFill>
                <a:latin typeface="Aptos"/>
              </a:rPr>
              <a:t>It packages repeatable workflow logic so you do not have to re-describe the same process every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3200400"/>
            <a:ext cx="1828800" cy="22860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756E66"/>
                </a:solidFill>
                <a:latin typeface="Aptos"/>
              </a:rPr>
              <a:t>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" y="3456432"/>
            <a:ext cx="1138428" cy="329184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D6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43891" bIns="38404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D2A26"/>
                </a:solidFill>
                <a:latin typeface="Aptos"/>
              </a:rPr>
              <a:t>debug a bug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6251" y="3456432"/>
            <a:ext cx="1481328" cy="329184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D6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43891" bIns="38404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D2A26"/>
                </a:solidFill>
                <a:latin typeface="Aptos"/>
              </a:rPr>
              <a:t>summarize a spec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07306" y="3456432"/>
            <a:ext cx="1138428" cy="329184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D6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43891" bIns="38404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D2A26"/>
                </a:solidFill>
                <a:latin typeface="Aptos"/>
              </a:rPr>
              <a:t>review a PR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28232" y="1353312"/>
            <a:ext cx="4617720" cy="4526280"/>
          </a:xfrm>
          <a:prstGeom prst="roundRect">
            <a:avLst/>
          </a:prstGeom>
          <a:solidFill>
            <a:srgbClr val="DFD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55080" y="1280160"/>
            <a:ext cx="4617720" cy="4526280"/>
          </a:xfrm>
          <a:prstGeom prst="roundRect">
            <a:avLst/>
          </a:prstGeom>
          <a:solidFill>
            <a:srgbClr val="FFFAF1"/>
          </a:solidFill>
          <a:ln w="1651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627632"/>
            <a:ext cx="3108960" cy="36576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D2A26"/>
                </a:solidFill>
                <a:latin typeface="Aptos"/>
              </a:rPr>
              <a:t>Reusable sequence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56832" y="2834640"/>
            <a:ext cx="868680" cy="868680"/>
          </a:xfrm>
          <a:prstGeom prst="roundRect">
            <a:avLst/>
          </a:prstGeom>
          <a:solidFill>
            <a:srgbClr val="FFFAF1"/>
          </a:solidFill>
          <a:ln w="1397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2003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D2A26"/>
                </a:solidFill>
                <a:latin typeface="Aptos"/>
              </a:rPr>
              <a:t>gather context</a:t>
            </a:r>
          </a:p>
        </p:txBody>
      </p:sp>
      <p:sp>
        <p:nvSpPr>
          <p:cNvPr id="14" name="Chevron 13"/>
          <p:cNvSpPr/>
          <p:nvPr/>
        </p:nvSpPr>
        <p:spPr>
          <a:xfrm>
            <a:off x="7644384" y="3163824"/>
            <a:ext cx="256032" cy="201168"/>
          </a:xfrm>
          <a:prstGeom prst="chevron">
            <a:avLst/>
          </a:prstGeom>
          <a:solidFill>
            <a:srgbClr val="756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872984" y="2834640"/>
            <a:ext cx="868680" cy="868680"/>
          </a:xfrm>
          <a:prstGeom prst="roundRect">
            <a:avLst/>
          </a:prstGeom>
          <a:solidFill>
            <a:srgbClr val="FFFAF1"/>
          </a:solidFill>
          <a:ln w="1397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2003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D2A26"/>
                </a:solidFill>
                <a:latin typeface="Aptos"/>
              </a:rPr>
              <a:t>follow known steps</a:t>
            </a:r>
          </a:p>
        </p:txBody>
      </p:sp>
      <p:sp>
        <p:nvSpPr>
          <p:cNvPr id="16" name="Chevron 15"/>
          <p:cNvSpPr/>
          <p:nvPr/>
        </p:nvSpPr>
        <p:spPr>
          <a:xfrm>
            <a:off x="8860536" y="3163824"/>
            <a:ext cx="256032" cy="201168"/>
          </a:xfrm>
          <a:prstGeom prst="chevron">
            <a:avLst/>
          </a:prstGeom>
          <a:solidFill>
            <a:srgbClr val="756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089136" y="2834640"/>
            <a:ext cx="868680" cy="868680"/>
          </a:xfrm>
          <a:prstGeom prst="roundRect">
            <a:avLst/>
          </a:prstGeom>
          <a:solidFill>
            <a:srgbClr val="FFFAF1"/>
          </a:solidFill>
          <a:ln w="1397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2003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D2A26"/>
                </a:solidFill>
                <a:latin typeface="Aptos"/>
              </a:rPr>
              <a:t>check result</a:t>
            </a:r>
          </a:p>
        </p:txBody>
      </p:sp>
      <p:sp>
        <p:nvSpPr>
          <p:cNvPr id="18" name="Chevron 17"/>
          <p:cNvSpPr/>
          <p:nvPr/>
        </p:nvSpPr>
        <p:spPr>
          <a:xfrm>
            <a:off x="10076688" y="3163824"/>
            <a:ext cx="256032" cy="201168"/>
          </a:xfrm>
          <a:prstGeom prst="chevron">
            <a:avLst/>
          </a:prstGeom>
          <a:solidFill>
            <a:srgbClr val="756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305288" y="2834640"/>
            <a:ext cx="868680" cy="868680"/>
          </a:xfrm>
          <a:prstGeom prst="roundRect">
            <a:avLst/>
          </a:prstGeom>
          <a:solidFill>
            <a:srgbClr val="F7F2E8"/>
          </a:solidFill>
          <a:ln w="1397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2003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D2A26"/>
                </a:solidFill>
                <a:latin typeface="Aptos"/>
              </a:rPr>
              <a:t>reuse again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84848" y="4434840"/>
            <a:ext cx="3703320" cy="530352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D6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9260" bIns="25603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756E66"/>
                </a:solidFill>
                <a:latin typeface="Aptos"/>
              </a:rPr>
              <a:t>Best for recurring workflows, not one-off tasks.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49808" y="658368"/>
            <a:ext cx="201168" cy="36576"/>
          </a:xfrm>
          <a:prstGeom prst="rect">
            <a:avLst/>
          </a:prstGeom>
          <a:solidFill>
            <a:srgbClr val="5C8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475488"/>
            <a:ext cx="3474720" cy="36576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756E66"/>
                </a:solidFill>
                <a:latin typeface="Aptos"/>
              </a:rPr>
              <a:t>INSTRUCTIONS / RULES /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87552"/>
            <a:ext cx="5532120" cy="137160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D2A26"/>
                </a:solidFill>
                <a:latin typeface="Aptos Display"/>
              </a:rPr>
              <a:t>Use rules for boundaries, instructions for steering, and skills for reuse.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47671"/>
            <a:ext cx="10515600" cy="3520440"/>
          </a:xfrm>
          <a:prstGeom prst="roundRect">
            <a:avLst/>
          </a:prstGeom>
          <a:solidFill>
            <a:srgbClr val="DFD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9808" y="1874519"/>
            <a:ext cx="10515600" cy="3520440"/>
          </a:xfrm>
          <a:prstGeom prst="roundRect">
            <a:avLst/>
          </a:prstGeom>
          <a:solidFill>
            <a:srgbClr val="FFFAF1"/>
          </a:solidFill>
          <a:ln w="1651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2176272"/>
            <a:ext cx="1554480" cy="438912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D6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9260" bIns="25603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756E66"/>
                </a:solidFill>
                <a:latin typeface="Aptos"/>
              </a:rPr>
              <a:t>Dimension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70048" y="2176272"/>
            <a:ext cx="2560320" cy="438912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9260" bIns="25603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D2A26"/>
                </a:solidFill>
                <a:latin typeface="Aptos"/>
              </a:rPr>
              <a:t>Instructions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40096" y="2176272"/>
            <a:ext cx="2011680" cy="438912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9260" bIns="25603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D2A26"/>
                </a:solidFill>
                <a:latin typeface="Aptos"/>
              </a:rPr>
              <a:t>Rules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61504" y="2176272"/>
            <a:ext cx="2560320" cy="438912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9260" bIns="25603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D2A26"/>
                </a:solidFill>
                <a:latin typeface="Aptos"/>
              </a:rPr>
              <a:t>Skills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2724912"/>
            <a:ext cx="1554480" cy="566928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D6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9260" bIns="25603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756E66"/>
                </a:solidFill>
                <a:latin typeface="Aptos"/>
              </a:rPr>
              <a:t>Best for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70048" y="2724912"/>
            <a:ext cx="2560320" cy="566928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9260" bIns="25603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2D2A26"/>
                </a:solidFill>
                <a:latin typeface="Aptos"/>
              </a:rPr>
              <a:t>steady guidance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40096" y="2724912"/>
            <a:ext cx="2011680" cy="566928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9260" bIns="25603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2D2A26"/>
                </a:solidFill>
                <a:latin typeface="Aptos"/>
              </a:rPr>
              <a:t>hard boundaries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61504" y="2724912"/>
            <a:ext cx="2560320" cy="566928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9260" bIns="25603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2D2A26"/>
                </a:solidFill>
                <a:latin typeface="Aptos"/>
              </a:rPr>
              <a:t>reusable workflows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3401568"/>
            <a:ext cx="1554480" cy="566928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D6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9260" bIns="25603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756E66"/>
                </a:solidFill>
                <a:latin typeface="Aptos"/>
              </a:rPr>
              <a:t>If overused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70048" y="3401568"/>
            <a:ext cx="2560320" cy="566928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9260" bIns="25603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2D2A26"/>
                </a:solidFill>
                <a:latin typeface="Aptos"/>
              </a:rPr>
              <a:t>bloated prompt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40096" y="3401568"/>
            <a:ext cx="2011680" cy="566928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9260" bIns="25603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2D2A26"/>
                </a:solidFill>
                <a:latin typeface="Aptos"/>
              </a:rPr>
              <a:t>rigid behavior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61504" y="3401568"/>
            <a:ext cx="2560320" cy="566928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9260" bIns="25603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2D2A26"/>
                </a:solidFill>
                <a:latin typeface="Aptos"/>
              </a:rPr>
              <a:t>skill sprawl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" y="4078224"/>
            <a:ext cx="1554480" cy="566928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D6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9260" bIns="25603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756E66"/>
                </a:solidFill>
                <a:latin typeface="Aptos"/>
              </a:rPr>
              <a:t>Reuse story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70048" y="4078224"/>
            <a:ext cx="2560320" cy="566928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9260" bIns="25603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2D2A26"/>
                </a:solidFill>
                <a:latin typeface="Aptos"/>
              </a:rPr>
              <a:t>repeated every run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40096" y="4078224"/>
            <a:ext cx="2011680" cy="566928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9260" bIns="25603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2D2A26"/>
                </a:solidFill>
                <a:latin typeface="Aptos"/>
              </a:rPr>
              <a:t>repeated every run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61504" y="4078224"/>
            <a:ext cx="2560320" cy="566928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9260" bIns="25603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2D2A26"/>
                </a:solidFill>
                <a:latin typeface="Aptos"/>
              </a:rPr>
              <a:t>built once, reused when relevant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5623560"/>
            <a:ext cx="4846320" cy="658368"/>
          </a:xfrm>
          <a:prstGeom prst="roundRect">
            <a:avLst/>
          </a:prstGeom>
          <a:solidFill>
            <a:srgbClr val="DFD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51560" y="5577840"/>
            <a:ext cx="4846320" cy="658368"/>
          </a:xfrm>
          <a:prstGeom prst="roundRect">
            <a:avLst/>
          </a:prstGeom>
          <a:solidFill>
            <a:srgbClr val="FFFAF1"/>
          </a:solidFill>
          <a:ln w="1397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87782" bIns="76809"/>
          <a:lstStyle/>
          <a:p>
            <a:pPr algn="ctr">
              <a:lnSpc>
                <a:spcPct val="100000"/>
              </a:lnSpc>
            </a:pPr>
            <a:r>
              <a:rPr sz="1550" b="1">
                <a:solidFill>
                  <a:srgbClr val="2D2A26"/>
                </a:solidFill>
                <a:latin typeface="Aptos"/>
              </a:rPr>
              <a:t>Keep instructions lean. Push repeated procedures into skills.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5596128"/>
            <a:ext cx="1828800" cy="22860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756E66"/>
                </a:solidFill>
                <a:latin typeface="Aptos"/>
              </a:rPr>
              <a:t>Examples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19088" y="5852160"/>
            <a:ext cx="1755648" cy="329184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D6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43891" bIns="38404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D2A26"/>
                </a:solidFill>
                <a:latin typeface="Aptos"/>
              </a:rPr>
              <a:t>copilot-instructions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84464" y="5852160"/>
            <a:ext cx="1001268" cy="329184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D6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43891" bIns="38404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D2A26"/>
                </a:solidFill>
                <a:latin typeface="Aptos"/>
              </a:rPr>
              <a:t>AGENTS.md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95459" y="5852160"/>
            <a:ext cx="1618487" cy="329184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D6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43891" bIns="38404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D2A26"/>
                </a:solidFill>
                <a:latin typeface="Aptos"/>
              </a:rPr>
              <a:t>PR review workflow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49808" y="658368"/>
            <a:ext cx="201168" cy="36576"/>
          </a:xfrm>
          <a:prstGeom prst="rect">
            <a:avLst/>
          </a:prstGeom>
          <a:solidFill>
            <a:srgbClr val="6C9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475488"/>
            <a:ext cx="3474720" cy="36576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756E66"/>
                </a:solidFill>
                <a:latin typeface="Aptos"/>
              </a:rPr>
              <a:t>PLUGIN / MCP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87552"/>
            <a:ext cx="5440680" cy="137160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D2A26"/>
                </a:solidFill>
                <a:latin typeface="Aptos Display"/>
              </a:rPr>
              <a:t>A plugin adds capability. MCP is the standard way systems connect.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" y="2039112"/>
            <a:ext cx="4892040" cy="3931920"/>
          </a:xfrm>
          <a:prstGeom prst="roundRect">
            <a:avLst/>
          </a:prstGeom>
          <a:solidFill>
            <a:srgbClr val="DFD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965960"/>
            <a:ext cx="4892040" cy="3931920"/>
          </a:xfrm>
          <a:prstGeom prst="roundRect">
            <a:avLst/>
          </a:prstGeom>
          <a:solidFill>
            <a:srgbClr val="FFFAF1"/>
          </a:solidFill>
          <a:ln w="1651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55664" y="2039112"/>
            <a:ext cx="4892040" cy="3931920"/>
          </a:xfrm>
          <a:prstGeom prst="roundRect">
            <a:avLst/>
          </a:prstGeom>
          <a:solidFill>
            <a:srgbClr val="DFD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82512" y="1965960"/>
            <a:ext cx="4892040" cy="3931920"/>
          </a:xfrm>
          <a:prstGeom prst="roundRect">
            <a:avLst/>
          </a:prstGeom>
          <a:solidFill>
            <a:srgbClr val="FFFAF1"/>
          </a:solidFill>
          <a:ln w="1651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267712"/>
            <a:ext cx="2103120" cy="32004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D2A26"/>
                </a:solidFill>
                <a:latin typeface="Aptos"/>
              </a:rPr>
              <a:t>Plugin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267712"/>
            <a:ext cx="2103120" cy="32004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D2A26"/>
                </a:solidFill>
                <a:latin typeface="Aptos"/>
              </a:rPr>
              <a:t>MCP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633472"/>
            <a:ext cx="3886200" cy="73152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756E66"/>
                </a:solidFill>
                <a:latin typeface="Aptos"/>
              </a:rPr>
              <a:t>A plugin gives the system a new thing it can do.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633472"/>
            <a:ext cx="3886200" cy="73152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756E66"/>
                </a:solidFill>
                <a:latin typeface="Aptos"/>
              </a:rPr>
              <a:t>MCP gives different tools a common connection standard.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65960" y="3383280"/>
            <a:ext cx="1737360" cy="960120"/>
          </a:xfrm>
          <a:prstGeom prst="roundRect">
            <a:avLst/>
          </a:prstGeom>
          <a:solidFill>
            <a:srgbClr val="D7A632"/>
          </a:solidFill>
          <a:ln w="1397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87782" bIns="76809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2D2A26"/>
                </a:solidFill>
                <a:latin typeface="Aptos"/>
              </a:rPr>
              <a:t>new tool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3657600"/>
            <a:ext cx="1554480" cy="411480"/>
          </a:xfrm>
          <a:prstGeom prst="roundRect">
            <a:avLst/>
          </a:prstGeom>
          <a:solidFill>
            <a:srgbClr val="F7F2E8"/>
          </a:solidFill>
          <a:ln w="1397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9260" bIns="25603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756E66"/>
                </a:solidFill>
                <a:latin typeface="Aptos"/>
              </a:rPr>
              <a:t>shared socket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86600" y="2971800"/>
            <a:ext cx="777240" cy="548640"/>
          </a:xfrm>
          <a:prstGeom prst="roundRect">
            <a:avLst/>
          </a:prstGeom>
          <a:solidFill>
            <a:srgbClr val="5C86B2"/>
          </a:solidFill>
          <a:ln w="1270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7315200" y="3529584"/>
            <a:ext cx="164592" cy="109728"/>
          </a:xfrm>
          <a:prstGeom prst="chevron">
            <a:avLst/>
          </a:prstGeom>
          <a:solidFill>
            <a:srgbClr val="756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0" y="2971800"/>
            <a:ext cx="777240" cy="548640"/>
          </a:xfrm>
          <a:prstGeom prst="roundRect">
            <a:avLst/>
          </a:prstGeom>
          <a:solidFill>
            <a:srgbClr val="D85F45"/>
          </a:solidFill>
          <a:ln w="1270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evron 17"/>
          <p:cNvSpPr/>
          <p:nvPr/>
        </p:nvSpPr>
        <p:spPr>
          <a:xfrm>
            <a:off x="8458200" y="3529584"/>
            <a:ext cx="164592" cy="109728"/>
          </a:xfrm>
          <a:prstGeom prst="chevron">
            <a:avLst/>
          </a:prstGeom>
          <a:solidFill>
            <a:srgbClr val="756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464040" y="2971800"/>
            <a:ext cx="777240" cy="548640"/>
          </a:xfrm>
          <a:prstGeom prst="roundRect">
            <a:avLst/>
          </a:prstGeom>
          <a:solidFill>
            <a:srgbClr val="6C9B6B"/>
          </a:solidFill>
          <a:ln w="1270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hevron 19"/>
          <p:cNvSpPr/>
          <p:nvPr/>
        </p:nvSpPr>
        <p:spPr>
          <a:xfrm>
            <a:off x="9692640" y="3529584"/>
            <a:ext cx="164592" cy="109728"/>
          </a:xfrm>
          <a:prstGeom prst="chevron">
            <a:avLst/>
          </a:prstGeom>
          <a:solidFill>
            <a:srgbClr val="756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5568" y="4956048"/>
            <a:ext cx="1828800" cy="22860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756E66"/>
                </a:solidFill>
                <a:latin typeface="Aptos"/>
              </a:rPr>
              <a:t>Plugin examples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15568" y="5212080"/>
            <a:ext cx="822960" cy="329184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D6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43891" bIns="38404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D2A26"/>
                </a:solidFill>
                <a:latin typeface="Aptos"/>
              </a:rPr>
              <a:t>GitHub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048256" y="5212080"/>
            <a:ext cx="822960" cy="329184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D6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43891" bIns="38404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D2A26"/>
                </a:solidFill>
                <a:latin typeface="Aptos"/>
              </a:rPr>
              <a:t>Slack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980944" y="5212080"/>
            <a:ext cx="932688" cy="329184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D6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43891" bIns="38404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D2A26"/>
                </a:solidFill>
                <a:latin typeface="Aptos"/>
              </a:rPr>
              <a:t>database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956048"/>
            <a:ext cx="1828800" cy="22860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756E66"/>
                </a:solidFill>
                <a:latin typeface="Aptos"/>
              </a:rPr>
              <a:t>MCP idea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75120" y="5212080"/>
            <a:ext cx="1412748" cy="329184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D6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43891" bIns="38404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D2A26"/>
                </a:solidFill>
                <a:latin typeface="Aptos"/>
              </a:rPr>
              <a:t>shared protocol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97596" y="5212080"/>
            <a:ext cx="2029967" cy="329184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D6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43891" bIns="38404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D2A26"/>
                </a:solidFill>
                <a:latin typeface="Aptos"/>
              </a:rPr>
              <a:t>same connection standard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49808" y="658368"/>
            <a:ext cx="201168" cy="36576"/>
          </a:xfrm>
          <a:prstGeom prst="rect">
            <a:avLst/>
          </a:prstGeom>
          <a:solidFill>
            <a:srgbClr val="D85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475488"/>
            <a:ext cx="3474720" cy="36576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756E66"/>
                </a:solidFill>
                <a:latin typeface="Aptos"/>
              </a:rPr>
              <a:t>CLI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87552"/>
            <a:ext cx="5303520" cy="137160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D2A26"/>
                </a:solidFill>
                <a:latin typeface="Aptos Display"/>
              </a:rPr>
              <a:t>The CLI is the command surface where the user tells the system what to 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057400"/>
            <a:ext cx="5394959" cy="82296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0">
                <a:solidFill>
                  <a:srgbClr val="756E66"/>
                </a:solidFill>
                <a:latin typeface="Aptos"/>
              </a:rPr>
              <a:t>Important because developers care about repeatability and automation.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3182112"/>
            <a:ext cx="1828800" cy="22860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756E66"/>
                </a:solidFill>
                <a:latin typeface="Aptos"/>
              </a:rPr>
              <a:t>Why it matters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" y="3438144"/>
            <a:ext cx="932688" cy="329184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D6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43891" bIns="38404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D2A26"/>
                </a:solidFill>
                <a:latin typeface="Aptos"/>
              </a:rPr>
              <a:t>run task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10512" y="3438144"/>
            <a:ext cx="1344168" cy="329184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D6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43891" bIns="38404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D2A26"/>
                </a:solidFill>
                <a:latin typeface="Aptos"/>
              </a:rPr>
              <a:t>inspect output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4407" y="3438144"/>
            <a:ext cx="1344168" cy="329184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D6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43891" bIns="38404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D2A26"/>
                </a:solidFill>
                <a:latin typeface="Aptos"/>
              </a:rPr>
              <a:t>repeat command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65392" y="1399032"/>
            <a:ext cx="4526280" cy="4297680"/>
          </a:xfrm>
          <a:prstGeom prst="roundRect">
            <a:avLst/>
          </a:prstGeom>
          <a:solidFill>
            <a:srgbClr val="DFD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92240" y="1325880"/>
            <a:ext cx="4526280" cy="4297680"/>
          </a:xfrm>
          <a:prstGeom prst="roundRect">
            <a:avLst/>
          </a:prstGeom>
          <a:solidFill>
            <a:srgbClr val="FFFAF1"/>
          </a:solidFill>
          <a:ln w="1651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720840" y="1572768"/>
            <a:ext cx="4069080" cy="438912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D6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9260" bIns="25603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756E66"/>
                </a:solidFill>
                <a:latin typeface="Aptos"/>
              </a:rPr>
              <a:t>terminal / command surface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2286000"/>
            <a:ext cx="3566160" cy="292608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D2A26"/>
                </a:solidFill>
                <a:latin typeface="Aptos"/>
              </a:rPr>
              <a:t>$ run review-task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2743200"/>
            <a:ext cx="3566160" cy="292608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756E66"/>
                </a:solidFill>
                <a:latin typeface="Aptos"/>
              </a:rPr>
              <a:t>&gt; load 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3200400"/>
            <a:ext cx="3566160" cy="292608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756E66"/>
                </a:solidFill>
                <a:latin typeface="Aptos"/>
              </a:rPr>
              <a:t>&gt; inspect files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657600"/>
            <a:ext cx="3566160" cy="292608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756E66"/>
                </a:solidFill>
                <a:latin typeface="Aptos"/>
              </a:rPr>
              <a:t>&gt; run checks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4114800"/>
            <a:ext cx="3566160" cy="292608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756E66"/>
                </a:solidFill>
                <a:latin typeface="Aptos"/>
              </a:rPr>
              <a:t>&gt; summarize findings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76288" y="4892040"/>
            <a:ext cx="3611880" cy="457200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D6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9260" bIns="25603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756E66"/>
                </a:solidFill>
                <a:latin typeface="Aptos"/>
              </a:rPr>
              <a:t>A good CLI makes the workflow visible and repeatable.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49808" y="658368"/>
            <a:ext cx="201168" cy="36576"/>
          </a:xfrm>
          <a:prstGeom prst="rect">
            <a:avLst/>
          </a:prstGeom>
          <a:solidFill>
            <a:srgbClr val="D7A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475488"/>
            <a:ext cx="3474720" cy="36576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756E66"/>
                </a:solidFill>
                <a:latin typeface="Aptos"/>
              </a:rPr>
              <a:t>TOKEN / CONTEXT WINDOW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87552"/>
            <a:ext cx="5394960" cy="137160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D2A26"/>
                </a:solidFill>
                <a:latin typeface="Aptos Display"/>
              </a:rPr>
              <a:t>Tokens are the units. The context window is the active capacity.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1832" y="2039112"/>
            <a:ext cx="4754880" cy="3931920"/>
          </a:xfrm>
          <a:prstGeom prst="roundRect">
            <a:avLst/>
          </a:prstGeom>
          <a:solidFill>
            <a:srgbClr val="DFD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965960"/>
            <a:ext cx="4754880" cy="3931920"/>
          </a:xfrm>
          <a:prstGeom prst="roundRect">
            <a:avLst/>
          </a:prstGeom>
          <a:solidFill>
            <a:srgbClr val="FFFAF1"/>
          </a:solidFill>
          <a:ln w="1651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611112" y="2039112"/>
            <a:ext cx="4754880" cy="3931920"/>
          </a:xfrm>
          <a:prstGeom prst="roundRect">
            <a:avLst/>
          </a:prstGeom>
          <a:solidFill>
            <a:srgbClr val="DFD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37960" y="1965960"/>
            <a:ext cx="4754880" cy="3931920"/>
          </a:xfrm>
          <a:prstGeom prst="roundRect">
            <a:avLst/>
          </a:prstGeom>
          <a:solidFill>
            <a:srgbClr val="FFFAF1"/>
          </a:solidFill>
          <a:ln w="1651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2267712"/>
            <a:ext cx="1828800" cy="32004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D2A26"/>
                </a:solidFill>
                <a:latin typeface="Aptos"/>
              </a:rPr>
              <a:t>Token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9712" y="2267712"/>
            <a:ext cx="2468880" cy="32004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D2A26"/>
                </a:solidFill>
                <a:latin typeface="Aptos"/>
              </a:rPr>
              <a:t>Context window</a:t>
            </a:r>
          </a:p>
        </p:txBody>
      </p:sp>
      <p:sp>
        <p:nvSpPr>
          <p:cNvPr id="11" name="Oval 10"/>
          <p:cNvSpPr/>
          <p:nvPr/>
        </p:nvSpPr>
        <p:spPr>
          <a:xfrm>
            <a:off x="1325880" y="3154680"/>
            <a:ext cx="310896" cy="310896"/>
          </a:xfrm>
          <a:prstGeom prst="ellipse">
            <a:avLst/>
          </a:prstGeom>
          <a:solidFill>
            <a:srgbClr val="D85F45"/>
          </a:solidFill>
          <a:ln w="1270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828800" y="3319272"/>
            <a:ext cx="310896" cy="310896"/>
          </a:xfrm>
          <a:prstGeom prst="ellipse">
            <a:avLst/>
          </a:prstGeom>
          <a:solidFill>
            <a:srgbClr val="D7A632"/>
          </a:solidFill>
          <a:ln w="1270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331720" y="3154680"/>
            <a:ext cx="310896" cy="310896"/>
          </a:xfrm>
          <a:prstGeom prst="ellipse">
            <a:avLst/>
          </a:prstGeom>
          <a:solidFill>
            <a:srgbClr val="5C86B2"/>
          </a:solidFill>
          <a:ln w="1270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834640" y="3319272"/>
            <a:ext cx="310896" cy="310896"/>
          </a:xfrm>
          <a:prstGeom prst="ellipse">
            <a:avLst/>
          </a:prstGeom>
          <a:solidFill>
            <a:srgbClr val="6C9B6B"/>
          </a:solidFill>
          <a:ln w="1270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337560" y="3154680"/>
            <a:ext cx="310896" cy="310896"/>
          </a:xfrm>
          <a:prstGeom prst="ellipse">
            <a:avLst/>
          </a:prstGeom>
          <a:solidFill>
            <a:srgbClr val="F7F2E8"/>
          </a:solidFill>
          <a:ln w="1270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794760" y="3063240"/>
            <a:ext cx="1097280" cy="749808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87782" bIns="76809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2D2A26"/>
                </a:solidFill>
                <a:latin typeface="Aptos"/>
              </a:rPr>
              <a:t>whole
thought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4343400"/>
            <a:ext cx="3566160" cy="73152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756E66"/>
                </a:solidFill>
                <a:latin typeface="Aptos"/>
              </a:rPr>
              <a:t>The model works on many small text pieces, not full ideas all at once.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3720" y="2971800"/>
            <a:ext cx="3611880" cy="1371600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78040" y="3337560"/>
            <a:ext cx="384048" cy="384048"/>
          </a:xfrm>
          <a:prstGeom prst="roundRect">
            <a:avLst/>
          </a:prstGeom>
          <a:solidFill>
            <a:srgbClr val="D85F45"/>
          </a:solidFill>
          <a:ln w="1143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818120" y="3337560"/>
            <a:ext cx="384048" cy="384048"/>
          </a:xfrm>
          <a:prstGeom prst="roundRect">
            <a:avLst/>
          </a:prstGeom>
          <a:solidFill>
            <a:srgbClr val="D7A632"/>
          </a:solidFill>
          <a:ln w="1143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58200" y="3337560"/>
            <a:ext cx="384048" cy="384048"/>
          </a:xfrm>
          <a:prstGeom prst="roundRect">
            <a:avLst/>
          </a:prstGeom>
          <a:solidFill>
            <a:srgbClr val="5C86B2"/>
          </a:solidFill>
          <a:ln w="1143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98280" y="3337560"/>
            <a:ext cx="384048" cy="384048"/>
          </a:xfrm>
          <a:prstGeom prst="roundRect">
            <a:avLst/>
          </a:prstGeom>
          <a:solidFill>
            <a:srgbClr val="6C9B6B"/>
          </a:solidFill>
          <a:ln w="1143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738360" y="3337560"/>
            <a:ext cx="384048" cy="384048"/>
          </a:xfrm>
          <a:prstGeom prst="roundRect">
            <a:avLst/>
          </a:prstGeom>
          <a:solidFill>
            <a:srgbClr val="FFFAF1"/>
          </a:solidFill>
          <a:ln w="1143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39712" y="4526280"/>
            <a:ext cx="3611880" cy="73152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756E66"/>
                </a:solidFill>
                <a:latin typeface="Aptos"/>
              </a:rPr>
              <a:t>Only so much active information can stay in play before the workspace gets crowded.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49808" y="658368"/>
            <a:ext cx="201168" cy="36576"/>
          </a:xfrm>
          <a:prstGeom prst="rect">
            <a:avLst/>
          </a:prstGeom>
          <a:solidFill>
            <a:srgbClr val="5C8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475488"/>
            <a:ext cx="3474720" cy="36576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756E66"/>
                </a:solidFill>
                <a:latin typeface="Aptos"/>
              </a:rPr>
              <a:t>HOOKS /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87552"/>
            <a:ext cx="5486400" cy="137160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D2A26"/>
                </a:solidFill>
                <a:latin typeface="Aptos Display"/>
              </a:rPr>
              <a:t>Hooks are trigger points. Guardrails are layered checks around execution.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1832" y="2039112"/>
            <a:ext cx="4709160" cy="3886200"/>
          </a:xfrm>
          <a:prstGeom prst="roundRect">
            <a:avLst/>
          </a:prstGeom>
          <a:solidFill>
            <a:srgbClr val="DFD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965960"/>
            <a:ext cx="4709160" cy="3886200"/>
          </a:xfrm>
          <a:prstGeom prst="roundRect">
            <a:avLst/>
          </a:prstGeom>
          <a:solidFill>
            <a:srgbClr val="FFFAF1"/>
          </a:solidFill>
          <a:ln w="1651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656832" y="2039112"/>
            <a:ext cx="4709160" cy="3886200"/>
          </a:xfrm>
          <a:prstGeom prst="roundRect">
            <a:avLst/>
          </a:prstGeom>
          <a:solidFill>
            <a:srgbClr val="DFD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0" y="1965960"/>
            <a:ext cx="4709160" cy="3886200"/>
          </a:xfrm>
          <a:prstGeom prst="roundRect">
            <a:avLst/>
          </a:prstGeom>
          <a:solidFill>
            <a:srgbClr val="FFFAF1"/>
          </a:solidFill>
          <a:ln w="1651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2267712"/>
            <a:ext cx="1828800" cy="32004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D2A26"/>
                </a:solidFill>
                <a:latin typeface="Aptos"/>
              </a:rPr>
              <a:t>Hook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85432" y="2267712"/>
            <a:ext cx="2011680" cy="32004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D2A26"/>
                </a:solidFill>
                <a:latin typeface="Aptos"/>
              </a:rPr>
              <a:t>Guardrails</a:t>
            </a:r>
          </a:p>
        </p:txBody>
      </p:sp>
      <p:sp>
        <p:nvSpPr>
          <p:cNvPr id="11" name="Oval 10"/>
          <p:cNvSpPr/>
          <p:nvPr/>
        </p:nvSpPr>
        <p:spPr>
          <a:xfrm>
            <a:off x="1920240" y="2880360"/>
            <a:ext cx="914400" cy="914400"/>
          </a:xfrm>
          <a:prstGeom prst="ellipse">
            <a:avLst/>
          </a:prstGeom>
          <a:solidFill>
            <a:srgbClr val="F7F2E8"/>
          </a:solidFill>
          <a:ln w="1397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87782" bIns="76809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2D2A26"/>
                </a:solidFill>
                <a:latin typeface="Aptos"/>
              </a:rPr>
              <a:t>timer</a:t>
            </a:r>
          </a:p>
        </p:txBody>
      </p:sp>
      <p:sp>
        <p:nvSpPr>
          <p:cNvPr id="12" name="Chevron 11"/>
          <p:cNvSpPr/>
          <p:nvPr/>
        </p:nvSpPr>
        <p:spPr>
          <a:xfrm>
            <a:off x="3127248" y="3246120"/>
            <a:ext cx="292608" cy="201168"/>
          </a:xfrm>
          <a:prstGeom prst="chevron">
            <a:avLst/>
          </a:prstGeom>
          <a:solidFill>
            <a:srgbClr val="756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11880" y="2907792"/>
            <a:ext cx="1280160" cy="676656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87782" bIns="76809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2D2A26"/>
                </a:solidFill>
                <a:latin typeface="Aptos"/>
              </a:rPr>
              <a:t>run 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4343400"/>
            <a:ext cx="3520440" cy="77724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756E66"/>
                </a:solidFill>
                <a:latin typeface="Aptos"/>
              </a:rPr>
              <a:t>A hook is a defined point where extra logic can run.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86600" y="2788920"/>
            <a:ext cx="1417320" cy="493776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9260" bIns="25603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756E66"/>
                </a:solidFill>
                <a:latin typeface="Aptos"/>
              </a:rPr>
              <a:t>approval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3246120"/>
            <a:ext cx="1417320" cy="493776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9260" bIns="25603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2D2A26"/>
                </a:solidFill>
                <a:latin typeface="Aptos"/>
              </a:rPr>
              <a:t>policy check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32520" y="3703320"/>
            <a:ext cx="1417320" cy="493776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9260" bIns="25603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756E66"/>
                </a:solidFill>
                <a:latin typeface="Aptos"/>
              </a:rPr>
              <a:t>unsafe action blocked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85432" y="4498848"/>
            <a:ext cx="3611880" cy="77724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756E66"/>
                </a:solidFill>
                <a:latin typeface="Aptos"/>
              </a:rPr>
              <a:t>Guardrails are layered checks that keep behavior inside safe bounds.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49808" y="658368"/>
            <a:ext cx="201168" cy="36576"/>
          </a:xfrm>
          <a:prstGeom prst="rect">
            <a:avLst/>
          </a:prstGeom>
          <a:solidFill>
            <a:srgbClr val="D85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475488"/>
            <a:ext cx="3474720" cy="36576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756E66"/>
                </a:solidFill>
                <a:latin typeface="Aptos"/>
              </a:rPr>
              <a:t>FROM IDEA TO SPEC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87552"/>
            <a:ext cx="5577840" cy="137160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D2A26"/>
                </a:solidFill>
                <a:latin typeface="Aptos Display"/>
              </a:rPr>
              <a:t>The first loop is not coding. It is refining the request until it becomes an approved spec.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057400"/>
            <a:ext cx="5669279" cy="82296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0">
                <a:solidFill>
                  <a:srgbClr val="756E66"/>
                </a:solidFill>
                <a:latin typeface="Aptos"/>
              </a:rPr>
              <a:t>This is where fuzzy requests become structured intent.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2971800"/>
            <a:ext cx="1828800" cy="22860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756E66"/>
                </a:solidFill>
                <a:latin typeface="Aptos"/>
              </a:rPr>
              <a:t>Workflow 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" y="3227832"/>
            <a:ext cx="1481328" cy="329184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D6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43891" bIns="38404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D2A26"/>
                </a:solidFill>
                <a:latin typeface="Aptos"/>
              </a:rPr>
              <a:t>BMAD: quick-spec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59151" y="3227832"/>
            <a:ext cx="2167128" cy="329184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D6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43891" bIns="38404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D2A26"/>
                </a:solidFill>
                <a:latin typeface="Aptos"/>
              </a:rPr>
              <a:t>superpowers: brainstorming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685032"/>
            <a:ext cx="10378440" cy="2011680"/>
          </a:xfrm>
          <a:prstGeom prst="roundRect">
            <a:avLst/>
          </a:prstGeom>
          <a:solidFill>
            <a:srgbClr val="DFD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1248" y="3611880"/>
            <a:ext cx="10378440" cy="2011680"/>
          </a:xfrm>
          <a:prstGeom prst="roundRect">
            <a:avLst/>
          </a:prstGeom>
          <a:solidFill>
            <a:srgbClr val="FFFAF1"/>
          </a:solidFill>
          <a:ln w="1651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7280" y="4160520"/>
            <a:ext cx="786384" cy="786384"/>
          </a:xfrm>
          <a:prstGeom prst="ellipse">
            <a:avLst/>
          </a:prstGeom>
          <a:solidFill>
            <a:srgbClr val="F7F2E8"/>
          </a:solidFill>
          <a:ln w="1524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8521" bIns="51206"/>
          <a:lstStyle/>
          <a:p>
            <a:pPr algn="ctr">
              <a:lnSpc>
                <a:spcPct val="100000"/>
              </a:lnSpc>
            </a:pPr>
            <a:r>
              <a:rPr sz="1220" b="1">
                <a:solidFill>
                  <a:srgbClr val="2D2A26"/>
                </a:solidFill>
                <a:latin typeface="Aptos"/>
              </a:rPr>
              <a:t>idea</a:t>
            </a:r>
          </a:p>
        </p:txBody>
      </p:sp>
      <p:sp>
        <p:nvSpPr>
          <p:cNvPr id="12" name="Chevron 11"/>
          <p:cNvSpPr/>
          <p:nvPr/>
        </p:nvSpPr>
        <p:spPr>
          <a:xfrm>
            <a:off x="2066544" y="4443983"/>
            <a:ext cx="292608" cy="201168"/>
          </a:xfrm>
          <a:prstGeom prst="chevron">
            <a:avLst/>
          </a:prstGeom>
          <a:solidFill>
            <a:srgbClr val="756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724912" y="4160520"/>
            <a:ext cx="786384" cy="786384"/>
          </a:xfrm>
          <a:prstGeom prst="ellipse">
            <a:avLst/>
          </a:prstGeom>
          <a:solidFill>
            <a:srgbClr val="FFFAF1"/>
          </a:solidFill>
          <a:ln w="1524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8521" bIns="51206"/>
          <a:lstStyle/>
          <a:p>
            <a:pPr algn="ctr">
              <a:lnSpc>
                <a:spcPct val="100000"/>
              </a:lnSpc>
            </a:pPr>
            <a:r>
              <a:rPr sz="1220" b="1">
                <a:solidFill>
                  <a:srgbClr val="2D2A26"/>
                </a:solidFill>
                <a:latin typeface="Aptos"/>
              </a:rPr>
              <a:t>brainstorm</a:t>
            </a:r>
          </a:p>
        </p:txBody>
      </p:sp>
      <p:sp>
        <p:nvSpPr>
          <p:cNvPr id="14" name="Chevron 13"/>
          <p:cNvSpPr/>
          <p:nvPr/>
        </p:nvSpPr>
        <p:spPr>
          <a:xfrm>
            <a:off x="3694176" y="4443983"/>
            <a:ext cx="292608" cy="201168"/>
          </a:xfrm>
          <a:prstGeom prst="chevron">
            <a:avLst/>
          </a:prstGeom>
          <a:solidFill>
            <a:srgbClr val="756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52544" y="4160520"/>
            <a:ext cx="786384" cy="786384"/>
          </a:xfrm>
          <a:prstGeom prst="ellipse">
            <a:avLst/>
          </a:prstGeom>
          <a:solidFill>
            <a:srgbClr val="FFFAF1"/>
          </a:solidFill>
          <a:ln w="1524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8521" bIns="51206"/>
          <a:lstStyle/>
          <a:p>
            <a:pPr algn="ctr">
              <a:lnSpc>
                <a:spcPct val="100000"/>
              </a:lnSpc>
            </a:pPr>
            <a:r>
              <a:rPr sz="1220" b="1">
                <a:solidFill>
                  <a:srgbClr val="2D2A26"/>
                </a:solidFill>
                <a:latin typeface="Aptos"/>
              </a:rPr>
              <a:t>clarify</a:t>
            </a:r>
          </a:p>
        </p:txBody>
      </p:sp>
      <p:sp>
        <p:nvSpPr>
          <p:cNvPr id="16" name="Chevron 15"/>
          <p:cNvSpPr/>
          <p:nvPr/>
        </p:nvSpPr>
        <p:spPr>
          <a:xfrm>
            <a:off x="5321808" y="4443983"/>
            <a:ext cx="292608" cy="201168"/>
          </a:xfrm>
          <a:prstGeom prst="chevron">
            <a:avLst/>
          </a:prstGeom>
          <a:solidFill>
            <a:srgbClr val="756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980176" y="4160520"/>
            <a:ext cx="786384" cy="786384"/>
          </a:xfrm>
          <a:prstGeom prst="ellipse">
            <a:avLst/>
          </a:prstGeom>
          <a:solidFill>
            <a:srgbClr val="FFFAF1"/>
          </a:solidFill>
          <a:ln w="1524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8521" bIns="51206"/>
          <a:lstStyle/>
          <a:p>
            <a:pPr algn="ctr">
              <a:lnSpc>
                <a:spcPct val="100000"/>
              </a:lnSpc>
            </a:pPr>
            <a:r>
              <a:rPr sz="1220" b="1">
                <a:solidFill>
                  <a:srgbClr val="2D2A26"/>
                </a:solidFill>
                <a:latin typeface="Aptos"/>
              </a:rPr>
              <a:t>draft spec</a:t>
            </a:r>
          </a:p>
        </p:txBody>
      </p:sp>
      <p:sp>
        <p:nvSpPr>
          <p:cNvPr id="18" name="Chevron 17"/>
          <p:cNvSpPr/>
          <p:nvPr/>
        </p:nvSpPr>
        <p:spPr>
          <a:xfrm>
            <a:off x="6949440" y="4443983"/>
            <a:ext cx="292608" cy="201168"/>
          </a:xfrm>
          <a:prstGeom prst="chevron">
            <a:avLst/>
          </a:prstGeom>
          <a:solidFill>
            <a:srgbClr val="756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607808" y="4160520"/>
            <a:ext cx="786384" cy="786384"/>
          </a:xfrm>
          <a:prstGeom prst="ellipse">
            <a:avLst/>
          </a:prstGeom>
          <a:solidFill>
            <a:srgbClr val="FFFAF1"/>
          </a:solidFill>
          <a:ln w="1524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8521" bIns="51206"/>
          <a:lstStyle/>
          <a:p>
            <a:pPr algn="ctr">
              <a:lnSpc>
                <a:spcPct val="100000"/>
              </a:lnSpc>
            </a:pPr>
            <a:r>
              <a:rPr sz="1220" b="1">
                <a:solidFill>
                  <a:srgbClr val="2D2A26"/>
                </a:solidFill>
                <a:latin typeface="Aptos"/>
              </a:rPr>
              <a:t>review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20072" y="4297680"/>
            <a:ext cx="1143000" cy="512064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9260" bIns="25603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756E66"/>
                </a:solidFill>
                <a:latin typeface="Aptos"/>
              </a:rPr>
              <a:t>approved spec</a:t>
            </a:r>
          </a:p>
        </p:txBody>
      </p:sp>
      <p:sp>
        <p:nvSpPr>
          <p:cNvPr id="21" name="Left Arrow 20"/>
          <p:cNvSpPr/>
          <p:nvPr/>
        </p:nvSpPr>
        <p:spPr>
          <a:xfrm>
            <a:off x="5715000" y="5102352"/>
            <a:ext cx="2331720" cy="256032"/>
          </a:xfrm>
          <a:prstGeom prst="leftArrow">
            <a:avLst/>
          </a:prstGeom>
          <a:solidFill>
            <a:srgbClr val="D6C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97880" y="5376672"/>
            <a:ext cx="2148840" cy="256032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>
                <a:solidFill>
                  <a:srgbClr val="756E66"/>
                </a:solidFill>
                <a:latin typeface="Aptos"/>
              </a:rPr>
              <a:t>iterate until approved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49808" y="658368"/>
            <a:ext cx="201168" cy="36576"/>
          </a:xfrm>
          <a:prstGeom prst="rect">
            <a:avLst/>
          </a:prstGeom>
          <a:solidFill>
            <a:srgbClr val="5C8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475488"/>
            <a:ext cx="3474720" cy="36576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756E66"/>
                </a:solidFill>
                <a:latin typeface="Aptos"/>
              </a:rPr>
              <a:t>FROM SPEC TO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87552"/>
            <a:ext cx="5577840" cy="137160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D2A26"/>
                </a:solidFill>
                <a:latin typeface="Aptos Display"/>
              </a:rPr>
              <a:t>Once the spec is accepted, the next loop turns it into a concrete plan.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057400"/>
            <a:ext cx="5669279" cy="82296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0">
                <a:solidFill>
                  <a:srgbClr val="756E66"/>
                </a:solidFill>
                <a:latin typeface="Aptos"/>
              </a:rPr>
              <a:t>This is the difference between a good idea and a buildable plan.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2971800"/>
            <a:ext cx="1828800" cy="22860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756E66"/>
                </a:solidFill>
                <a:latin typeface="Aptos"/>
              </a:rPr>
              <a:t>Workflow 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" y="3227832"/>
            <a:ext cx="2194560" cy="329184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D6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43891" bIns="38404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D2A26"/>
                </a:solidFill>
                <a:latin typeface="Aptos"/>
              </a:rPr>
              <a:t>BMAD: architecture -&gt; epics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72384" y="3227832"/>
            <a:ext cx="2167128" cy="329184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D6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43891" bIns="38404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D2A26"/>
                </a:solidFill>
                <a:latin typeface="Aptos"/>
              </a:rPr>
              <a:t>superpowers: writing-plans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685032"/>
            <a:ext cx="10378440" cy="2011680"/>
          </a:xfrm>
          <a:prstGeom prst="roundRect">
            <a:avLst/>
          </a:prstGeom>
          <a:solidFill>
            <a:srgbClr val="DFD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1248" y="3611880"/>
            <a:ext cx="10378440" cy="2011680"/>
          </a:xfrm>
          <a:prstGeom prst="roundRect">
            <a:avLst/>
          </a:prstGeom>
          <a:solidFill>
            <a:srgbClr val="FFFAF1"/>
          </a:solidFill>
          <a:ln w="1651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7280" y="4160520"/>
            <a:ext cx="786384" cy="786384"/>
          </a:xfrm>
          <a:prstGeom prst="ellipse">
            <a:avLst/>
          </a:prstGeom>
          <a:solidFill>
            <a:srgbClr val="F7F2E8"/>
          </a:solidFill>
          <a:ln w="1524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8521" bIns="51206"/>
          <a:lstStyle/>
          <a:p>
            <a:pPr algn="ctr">
              <a:lnSpc>
                <a:spcPct val="100000"/>
              </a:lnSpc>
            </a:pPr>
            <a:r>
              <a:rPr sz="1220" b="1">
                <a:solidFill>
                  <a:srgbClr val="2D2A26"/>
                </a:solidFill>
                <a:latin typeface="Aptos"/>
              </a:rPr>
              <a:t>spec</a:t>
            </a:r>
          </a:p>
        </p:txBody>
      </p:sp>
      <p:sp>
        <p:nvSpPr>
          <p:cNvPr id="12" name="Chevron 11"/>
          <p:cNvSpPr/>
          <p:nvPr/>
        </p:nvSpPr>
        <p:spPr>
          <a:xfrm>
            <a:off x="2066544" y="4443983"/>
            <a:ext cx="292608" cy="201168"/>
          </a:xfrm>
          <a:prstGeom prst="chevron">
            <a:avLst/>
          </a:prstGeom>
          <a:solidFill>
            <a:srgbClr val="756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724912" y="4160520"/>
            <a:ext cx="786384" cy="786384"/>
          </a:xfrm>
          <a:prstGeom prst="ellipse">
            <a:avLst/>
          </a:prstGeom>
          <a:solidFill>
            <a:srgbClr val="FFFAF1"/>
          </a:solidFill>
          <a:ln w="1524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8521" bIns="51206"/>
          <a:lstStyle/>
          <a:p>
            <a:pPr algn="ctr">
              <a:lnSpc>
                <a:spcPct val="100000"/>
              </a:lnSpc>
            </a:pPr>
            <a:r>
              <a:rPr sz="1220" b="1">
                <a:solidFill>
                  <a:srgbClr val="2D2A26"/>
                </a:solidFill>
                <a:latin typeface="Aptos"/>
              </a:rPr>
              <a:t>break tasks</a:t>
            </a:r>
          </a:p>
        </p:txBody>
      </p:sp>
      <p:sp>
        <p:nvSpPr>
          <p:cNvPr id="14" name="Chevron 13"/>
          <p:cNvSpPr/>
          <p:nvPr/>
        </p:nvSpPr>
        <p:spPr>
          <a:xfrm>
            <a:off x="3694176" y="4443983"/>
            <a:ext cx="292608" cy="201168"/>
          </a:xfrm>
          <a:prstGeom prst="chevron">
            <a:avLst/>
          </a:prstGeom>
          <a:solidFill>
            <a:srgbClr val="756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52544" y="4160520"/>
            <a:ext cx="786384" cy="786384"/>
          </a:xfrm>
          <a:prstGeom prst="ellipse">
            <a:avLst/>
          </a:prstGeom>
          <a:solidFill>
            <a:srgbClr val="FFFAF1"/>
          </a:solidFill>
          <a:ln w="1524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8521" bIns="51206"/>
          <a:lstStyle/>
          <a:p>
            <a:pPr algn="ctr">
              <a:lnSpc>
                <a:spcPct val="100000"/>
              </a:lnSpc>
            </a:pPr>
            <a:r>
              <a:rPr sz="1220" b="1">
                <a:solidFill>
                  <a:srgbClr val="2D2A26"/>
                </a:solidFill>
                <a:latin typeface="Aptos"/>
              </a:rPr>
              <a:t>define files</a:t>
            </a:r>
          </a:p>
        </p:txBody>
      </p:sp>
      <p:sp>
        <p:nvSpPr>
          <p:cNvPr id="16" name="Chevron 15"/>
          <p:cNvSpPr/>
          <p:nvPr/>
        </p:nvSpPr>
        <p:spPr>
          <a:xfrm>
            <a:off x="5321808" y="4443983"/>
            <a:ext cx="292608" cy="201168"/>
          </a:xfrm>
          <a:prstGeom prst="chevron">
            <a:avLst/>
          </a:prstGeom>
          <a:solidFill>
            <a:srgbClr val="756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980176" y="4160520"/>
            <a:ext cx="786384" cy="786384"/>
          </a:xfrm>
          <a:prstGeom prst="ellipse">
            <a:avLst/>
          </a:prstGeom>
          <a:solidFill>
            <a:srgbClr val="FFFAF1"/>
          </a:solidFill>
          <a:ln w="1524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8521" bIns="51206"/>
          <a:lstStyle/>
          <a:p>
            <a:pPr algn="ctr">
              <a:lnSpc>
                <a:spcPct val="100000"/>
              </a:lnSpc>
            </a:pPr>
            <a:r>
              <a:rPr sz="1220" b="1">
                <a:solidFill>
                  <a:srgbClr val="2D2A26"/>
                </a:solidFill>
                <a:latin typeface="Aptos"/>
              </a:rPr>
              <a:t>add checks</a:t>
            </a:r>
          </a:p>
        </p:txBody>
      </p:sp>
      <p:sp>
        <p:nvSpPr>
          <p:cNvPr id="18" name="Chevron 17"/>
          <p:cNvSpPr/>
          <p:nvPr/>
        </p:nvSpPr>
        <p:spPr>
          <a:xfrm>
            <a:off x="6949440" y="4443983"/>
            <a:ext cx="292608" cy="201168"/>
          </a:xfrm>
          <a:prstGeom prst="chevron">
            <a:avLst/>
          </a:prstGeom>
          <a:solidFill>
            <a:srgbClr val="756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607808" y="4160520"/>
            <a:ext cx="786384" cy="786384"/>
          </a:xfrm>
          <a:prstGeom prst="ellipse">
            <a:avLst/>
          </a:prstGeom>
          <a:solidFill>
            <a:srgbClr val="FFFAF1"/>
          </a:solidFill>
          <a:ln w="1524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8521" bIns="51206"/>
          <a:lstStyle/>
          <a:p>
            <a:pPr algn="ctr">
              <a:lnSpc>
                <a:spcPct val="100000"/>
              </a:lnSpc>
            </a:pPr>
            <a:r>
              <a:rPr sz="1220" b="1">
                <a:solidFill>
                  <a:srgbClr val="2D2A26"/>
                </a:solidFill>
                <a:latin typeface="Aptos"/>
              </a:rPr>
              <a:t>review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20072" y="4297680"/>
            <a:ext cx="1143000" cy="512064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9260" bIns="25603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756E66"/>
                </a:solidFill>
                <a:latin typeface="Aptos"/>
              </a:rPr>
              <a:t>approved plan</a:t>
            </a:r>
          </a:p>
        </p:txBody>
      </p:sp>
      <p:sp>
        <p:nvSpPr>
          <p:cNvPr id="21" name="Left Arrow 20"/>
          <p:cNvSpPr/>
          <p:nvPr/>
        </p:nvSpPr>
        <p:spPr>
          <a:xfrm>
            <a:off x="5715000" y="5102352"/>
            <a:ext cx="2331720" cy="256032"/>
          </a:xfrm>
          <a:prstGeom prst="leftArrow">
            <a:avLst/>
          </a:prstGeom>
          <a:solidFill>
            <a:srgbClr val="D6C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97880" y="5376672"/>
            <a:ext cx="2148840" cy="256032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>
                <a:solidFill>
                  <a:srgbClr val="756E66"/>
                </a:solidFill>
                <a:latin typeface="Aptos"/>
              </a:rPr>
              <a:t>iterate until ready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49808" y="658368"/>
            <a:ext cx="201168" cy="36576"/>
          </a:xfrm>
          <a:prstGeom prst="rect">
            <a:avLst/>
          </a:prstGeom>
          <a:solidFill>
            <a:srgbClr val="6C9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475488"/>
            <a:ext cx="3474720" cy="36576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756E66"/>
                </a:solidFill>
                <a:latin typeface="Aptos"/>
              </a:rPr>
              <a:t>BUILD / REVIEW / FIX /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87552"/>
            <a:ext cx="5577840" cy="137160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D2A26"/>
                </a:solidFill>
                <a:latin typeface="Aptos Display"/>
              </a:rPr>
              <a:t>Implementation is an iteration loop, not a one-pass handoff from plan to done.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057400"/>
            <a:ext cx="5669279" cy="82296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0">
                <a:solidFill>
                  <a:srgbClr val="756E66"/>
                </a:solidFill>
                <a:latin typeface="Aptos"/>
              </a:rPr>
              <a:t>This is where hooks, guardrails, review, and verification become visible.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2971800"/>
            <a:ext cx="1828800" cy="22860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756E66"/>
                </a:solidFill>
                <a:latin typeface="Aptos"/>
              </a:rPr>
              <a:t>Workflow 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" y="3227832"/>
            <a:ext cx="2194560" cy="329184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D6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43891" bIns="38404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D2A26"/>
                </a:solidFill>
                <a:latin typeface="Aptos"/>
              </a:rPr>
              <a:t>BMAD: quick-dev -&gt; checkpoint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72384" y="3227832"/>
            <a:ext cx="2194560" cy="329184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D6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43891" bIns="38404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D2A26"/>
                </a:solidFill>
                <a:latin typeface="Aptos"/>
              </a:rPr>
              <a:t>superpowers: execute -&gt; review -&gt; verify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685032"/>
            <a:ext cx="10378440" cy="2011680"/>
          </a:xfrm>
          <a:prstGeom prst="roundRect">
            <a:avLst/>
          </a:prstGeom>
          <a:solidFill>
            <a:srgbClr val="DFD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1248" y="3611880"/>
            <a:ext cx="10378440" cy="2011680"/>
          </a:xfrm>
          <a:prstGeom prst="roundRect">
            <a:avLst/>
          </a:prstGeom>
          <a:solidFill>
            <a:srgbClr val="FFFAF1"/>
          </a:solidFill>
          <a:ln w="1651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7280" y="4160520"/>
            <a:ext cx="786384" cy="786384"/>
          </a:xfrm>
          <a:prstGeom prst="ellipse">
            <a:avLst/>
          </a:prstGeom>
          <a:solidFill>
            <a:srgbClr val="F7F2E8"/>
          </a:solidFill>
          <a:ln w="1524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8521" bIns="51206"/>
          <a:lstStyle/>
          <a:p>
            <a:pPr algn="ctr">
              <a:lnSpc>
                <a:spcPct val="100000"/>
              </a:lnSpc>
            </a:pPr>
            <a:r>
              <a:rPr sz="1220" b="1">
                <a:solidFill>
                  <a:srgbClr val="2D2A26"/>
                </a:solidFill>
                <a:latin typeface="Aptos"/>
              </a:rPr>
              <a:t>plan</a:t>
            </a:r>
          </a:p>
        </p:txBody>
      </p:sp>
      <p:sp>
        <p:nvSpPr>
          <p:cNvPr id="12" name="Chevron 11"/>
          <p:cNvSpPr/>
          <p:nvPr/>
        </p:nvSpPr>
        <p:spPr>
          <a:xfrm>
            <a:off x="2066544" y="4443983"/>
            <a:ext cx="292608" cy="201168"/>
          </a:xfrm>
          <a:prstGeom prst="chevron">
            <a:avLst/>
          </a:prstGeom>
          <a:solidFill>
            <a:srgbClr val="756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724912" y="4160520"/>
            <a:ext cx="786384" cy="786384"/>
          </a:xfrm>
          <a:prstGeom prst="ellipse">
            <a:avLst/>
          </a:prstGeom>
          <a:solidFill>
            <a:srgbClr val="FFFAF1"/>
          </a:solidFill>
          <a:ln w="1524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8521" bIns="51206"/>
          <a:lstStyle/>
          <a:p>
            <a:pPr algn="ctr">
              <a:lnSpc>
                <a:spcPct val="100000"/>
              </a:lnSpc>
            </a:pPr>
            <a:r>
              <a:rPr sz="1220" b="1">
                <a:solidFill>
                  <a:srgbClr val="2D2A26"/>
                </a:solidFill>
                <a:latin typeface="Aptos"/>
              </a:rPr>
              <a:t>implement</a:t>
            </a:r>
          </a:p>
        </p:txBody>
      </p:sp>
      <p:sp>
        <p:nvSpPr>
          <p:cNvPr id="14" name="Chevron 13"/>
          <p:cNvSpPr/>
          <p:nvPr/>
        </p:nvSpPr>
        <p:spPr>
          <a:xfrm>
            <a:off x="3694176" y="4443983"/>
            <a:ext cx="292608" cy="201168"/>
          </a:xfrm>
          <a:prstGeom prst="chevron">
            <a:avLst/>
          </a:prstGeom>
          <a:solidFill>
            <a:srgbClr val="756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52544" y="4160520"/>
            <a:ext cx="786384" cy="786384"/>
          </a:xfrm>
          <a:prstGeom prst="ellipse">
            <a:avLst/>
          </a:prstGeom>
          <a:solidFill>
            <a:srgbClr val="FFFAF1"/>
          </a:solidFill>
          <a:ln w="1524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8521" bIns="51206"/>
          <a:lstStyle/>
          <a:p>
            <a:pPr algn="ctr">
              <a:lnSpc>
                <a:spcPct val="100000"/>
              </a:lnSpc>
            </a:pPr>
            <a:r>
              <a:rPr sz="1220" b="1">
                <a:solidFill>
                  <a:srgbClr val="2D2A26"/>
                </a:solidFill>
                <a:latin typeface="Aptos"/>
              </a:rPr>
              <a:t>review</a:t>
            </a:r>
          </a:p>
        </p:txBody>
      </p:sp>
      <p:sp>
        <p:nvSpPr>
          <p:cNvPr id="16" name="Chevron 15"/>
          <p:cNvSpPr/>
          <p:nvPr/>
        </p:nvSpPr>
        <p:spPr>
          <a:xfrm>
            <a:off x="5321808" y="4443983"/>
            <a:ext cx="292608" cy="201168"/>
          </a:xfrm>
          <a:prstGeom prst="chevron">
            <a:avLst/>
          </a:prstGeom>
          <a:solidFill>
            <a:srgbClr val="756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980176" y="4160520"/>
            <a:ext cx="786384" cy="786384"/>
          </a:xfrm>
          <a:prstGeom prst="ellipse">
            <a:avLst/>
          </a:prstGeom>
          <a:solidFill>
            <a:srgbClr val="FFFAF1"/>
          </a:solidFill>
          <a:ln w="1524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8521" bIns="51206"/>
          <a:lstStyle/>
          <a:p>
            <a:pPr algn="ctr">
              <a:lnSpc>
                <a:spcPct val="100000"/>
              </a:lnSpc>
            </a:pPr>
            <a:r>
              <a:rPr sz="1220" b="1">
                <a:solidFill>
                  <a:srgbClr val="2D2A26"/>
                </a:solidFill>
                <a:latin typeface="Aptos"/>
              </a:rPr>
              <a:t>fix</a:t>
            </a:r>
          </a:p>
        </p:txBody>
      </p:sp>
      <p:sp>
        <p:nvSpPr>
          <p:cNvPr id="18" name="Chevron 17"/>
          <p:cNvSpPr/>
          <p:nvPr/>
        </p:nvSpPr>
        <p:spPr>
          <a:xfrm>
            <a:off x="6949440" y="4443983"/>
            <a:ext cx="292608" cy="201168"/>
          </a:xfrm>
          <a:prstGeom prst="chevron">
            <a:avLst/>
          </a:prstGeom>
          <a:solidFill>
            <a:srgbClr val="756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607808" y="4160520"/>
            <a:ext cx="786384" cy="786384"/>
          </a:xfrm>
          <a:prstGeom prst="ellipse">
            <a:avLst/>
          </a:prstGeom>
          <a:solidFill>
            <a:srgbClr val="FFFAF1"/>
          </a:solidFill>
          <a:ln w="1524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8521" bIns="51206"/>
          <a:lstStyle/>
          <a:p>
            <a:pPr algn="ctr">
              <a:lnSpc>
                <a:spcPct val="100000"/>
              </a:lnSpc>
            </a:pPr>
            <a:r>
              <a:rPr sz="1220" b="1">
                <a:solidFill>
                  <a:srgbClr val="2D2A26"/>
                </a:solidFill>
                <a:latin typeface="Aptos"/>
              </a:rPr>
              <a:t>verify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20072" y="4297680"/>
            <a:ext cx="1143000" cy="512064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9260" bIns="25603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756E66"/>
                </a:solidFill>
                <a:latin typeface="Aptos"/>
              </a:rPr>
              <a:t>ship / merge</a:t>
            </a:r>
          </a:p>
        </p:txBody>
      </p:sp>
      <p:sp>
        <p:nvSpPr>
          <p:cNvPr id="21" name="Left Arrow 20"/>
          <p:cNvSpPr/>
          <p:nvPr/>
        </p:nvSpPr>
        <p:spPr>
          <a:xfrm>
            <a:off x="5715000" y="5102352"/>
            <a:ext cx="2331720" cy="256032"/>
          </a:xfrm>
          <a:prstGeom prst="leftArrow">
            <a:avLst/>
          </a:prstGeom>
          <a:solidFill>
            <a:srgbClr val="D6C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97880" y="5376672"/>
            <a:ext cx="2148840" cy="256032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>
                <a:solidFill>
                  <a:srgbClr val="756E66"/>
                </a:solidFill>
                <a:latin typeface="Aptos"/>
              </a:rPr>
              <a:t>loop back when findings appear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49808" y="658368"/>
            <a:ext cx="201168" cy="36576"/>
          </a:xfrm>
          <a:prstGeom prst="rect">
            <a:avLst/>
          </a:prstGeom>
          <a:solidFill>
            <a:srgbClr val="D85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475488"/>
            <a:ext cx="3474720" cy="36576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756E66"/>
                </a:solidFill>
                <a:latin typeface="Aptos"/>
              </a:rPr>
              <a:t>END-TO-END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87552"/>
            <a:ext cx="5486400" cy="137160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D2A26"/>
                </a:solidFill>
                <a:latin typeface="Aptos Display"/>
              </a:rPr>
              <a:t>One realistic flow: inspect a bug and propose a fix.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39112"/>
            <a:ext cx="10378440" cy="4206240"/>
          </a:xfrm>
          <a:prstGeom prst="roundRect">
            <a:avLst/>
          </a:prstGeom>
          <a:solidFill>
            <a:srgbClr val="DFD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8" y="1965960"/>
            <a:ext cx="10378440" cy="4206240"/>
          </a:xfrm>
          <a:prstGeom prst="roundRect">
            <a:avLst/>
          </a:prstGeom>
          <a:solidFill>
            <a:srgbClr val="FFFAF1"/>
          </a:solidFill>
          <a:ln w="1651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5568" y="2816352"/>
            <a:ext cx="512064" cy="512064"/>
          </a:xfrm>
          <a:prstGeom prst="ellipse">
            <a:avLst/>
          </a:prstGeom>
          <a:solidFill>
            <a:srgbClr val="F7F2E8"/>
          </a:solidFill>
          <a:ln w="1524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8521" bIns="51206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2D2A26"/>
                </a:solidFill>
                <a:latin typeface="Aptos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73936" y="2798064"/>
            <a:ext cx="1389888" cy="566928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9260" bIns="25603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2D2A26"/>
                </a:solidFill>
                <a:latin typeface="Aptos"/>
              </a:rPr>
              <a:t>CLI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73936" y="3438144"/>
            <a:ext cx="1417320" cy="347472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756E66"/>
                </a:solidFill>
                <a:latin typeface="Aptos"/>
              </a:rPr>
              <a:t>task enters</a:t>
            </a:r>
          </a:p>
        </p:txBody>
      </p:sp>
      <p:sp>
        <p:nvSpPr>
          <p:cNvPr id="10" name="Chevron 9"/>
          <p:cNvSpPr/>
          <p:nvPr/>
        </p:nvSpPr>
        <p:spPr>
          <a:xfrm>
            <a:off x="3328415" y="2953512"/>
            <a:ext cx="256032" cy="164592"/>
          </a:xfrm>
          <a:prstGeom prst="chevron">
            <a:avLst/>
          </a:prstGeom>
          <a:solidFill>
            <a:srgbClr val="756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566160" y="2816352"/>
            <a:ext cx="512064" cy="512064"/>
          </a:xfrm>
          <a:prstGeom prst="ellipse">
            <a:avLst/>
          </a:prstGeom>
          <a:solidFill>
            <a:srgbClr val="F7F2E8"/>
          </a:solidFill>
          <a:ln w="1524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8521" bIns="51206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2D2A26"/>
                </a:solidFill>
                <a:latin typeface="Aptos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24528" y="2798064"/>
            <a:ext cx="1389888" cy="566928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9260" bIns="25603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2D2A26"/>
                </a:solidFill>
                <a:latin typeface="Aptos"/>
              </a:rPr>
              <a:t>Harness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24528" y="3438144"/>
            <a:ext cx="1417320" cy="347472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756E66"/>
                </a:solidFill>
                <a:latin typeface="Aptos"/>
              </a:rPr>
              <a:t>loads context</a:t>
            </a:r>
          </a:p>
        </p:txBody>
      </p:sp>
      <p:sp>
        <p:nvSpPr>
          <p:cNvPr id="14" name="Chevron 13"/>
          <p:cNvSpPr/>
          <p:nvPr/>
        </p:nvSpPr>
        <p:spPr>
          <a:xfrm>
            <a:off x="5779008" y="2953512"/>
            <a:ext cx="256032" cy="164592"/>
          </a:xfrm>
          <a:prstGeom prst="chevron">
            <a:avLst/>
          </a:prstGeom>
          <a:solidFill>
            <a:srgbClr val="756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016752" y="2816352"/>
            <a:ext cx="512064" cy="512064"/>
          </a:xfrm>
          <a:prstGeom prst="ellipse">
            <a:avLst/>
          </a:prstGeom>
          <a:solidFill>
            <a:srgbClr val="F7F2E8"/>
          </a:solidFill>
          <a:ln w="1524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8521" bIns="51206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2D2A26"/>
                </a:solidFill>
                <a:latin typeface="Aptos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2798064"/>
            <a:ext cx="1389888" cy="566928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9260" bIns="25603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2D2A26"/>
                </a:solidFill>
                <a:latin typeface="Aptos"/>
              </a:rPr>
              <a:t>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438144"/>
            <a:ext cx="1417320" cy="347472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756E66"/>
                </a:solidFill>
                <a:latin typeface="Aptos"/>
              </a:rPr>
              <a:t>loops through work</a:t>
            </a:r>
          </a:p>
        </p:txBody>
      </p:sp>
      <p:sp>
        <p:nvSpPr>
          <p:cNvPr id="18" name="Chevron 17"/>
          <p:cNvSpPr/>
          <p:nvPr/>
        </p:nvSpPr>
        <p:spPr>
          <a:xfrm>
            <a:off x="8229600" y="2953512"/>
            <a:ext cx="256032" cy="164592"/>
          </a:xfrm>
          <a:prstGeom prst="chevron">
            <a:avLst/>
          </a:prstGeom>
          <a:solidFill>
            <a:srgbClr val="756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67344" y="2816352"/>
            <a:ext cx="512064" cy="512064"/>
          </a:xfrm>
          <a:prstGeom prst="ellipse">
            <a:avLst/>
          </a:prstGeom>
          <a:solidFill>
            <a:srgbClr val="F7F2E8"/>
          </a:solidFill>
          <a:ln w="1524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8521" bIns="51206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2D2A26"/>
                </a:solidFill>
                <a:latin typeface="Aptos"/>
              </a:rP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25712" y="2798064"/>
            <a:ext cx="1389888" cy="566928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9260" bIns="25603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2D2A26"/>
                </a:solidFill>
                <a:latin typeface="Aptos"/>
              </a:rPr>
              <a:t>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25712" y="3438144"/>
            <a:ext cx="1417320" cy="347472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756E66"/>
                </a:solidFill>
                <a:latin typeface="Aptos"/>
              </a:rPr>
              <a:t>generates next step</a:t>
            </a:r>
          </a:p>
        </p:txBody>
      </p:sp>
      <p:sp>
        <p:nvSpPr>
          <p:cNvPr id="22" name="Oval 21"/>
          <p:cNvSpPr/>
          <p:nvPr/>
        </p:nvSpPr>
        <p:spPr>
          <a:xfrm>
            <a:off x="1115568" y="4142232"/>
            <a:ext cx="512064" cy="512064"/>
          </a:xfrm>
          <a:prstGeom prst="ellipse">
            <a:avLst/>
          </a:prstGeom>
          <a:solidFill>
            <a:srgbClr val="F7F2E8"/>
          </a:solidFill>
          <a:ln w="1524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8521" bIns="51206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2D2A26"/>
                </a:solidFill>
                <a:latin typeface="Aptos"/>
              </a:rPr>
              <a:t>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773936" y="4123944"/>
            <a:ext cx="1389888" cy="566928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9260" bIns="25603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2D2A26"/>
                </a:solidFill>
                <a:latin typeface="Aptos"/>
              </a:rPr>
              <a:t>Skill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73936" y="4764024"/>
            <a:ext cx="1417320" cy="347472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756E66"/>
                </a:solidFill>
                <a:latin typeface="Aptos"/>
              </a:rPr>
              <a:t>shapes approach</a:t>
            </a:r>
          </a:p>
        </p:txBody>
      </p:sp>
      <p:sp>
        <p:nvSpPr>
          <p:cNvPr id="25" name="Chevron 24"/>
          <p:cNvSpPr/>
          <p:nvPr/>
        </p:nvSpPr>
        <p:spPr>
          <a:xfrm>
            <a:off x="3328415" y="4279392"/>
            <a:ext cx="256032" cy="164592"/>
          </a:xfrm>
          <a:prstGeom prst="chevron">
            <a:avLst/>
          </a:prstGeom>
          <a:solidFill>
            <a:srgbClr val="756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566160" y="4142232"/>
            <a:ext cx="512064" cy="512064"/>
          </a:xfrm>
          <a:prstGeom prst="ellipse">
            <a:avLst/>
          </a:prstGeom>
          <a:solidFill>
            <a:srgbClr val="F7F2E8"/>
          </a:solidFill>
          <a:ln w="1524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8521" bIns="51206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2D2A26"/>
                </a:solidFill>
                <a:latin typeface="Aptos"/>
              </a:rPr>
              <a:t>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24528" y="4123944"/>
            <a:ext cx="1389888" cy="566928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9260" bIns="25603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2D2A26"/>
                </a:solidFill>
                <a:latin typeface="Aptos"/>
              </a:rPr>
              <a:t>Plugin / MCP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24528" y="4764024"/>
            <a:ext cx="1417320" cy="347472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756E66"/>
                </a:solidFill>
                <a:latin typeface="Aptos"/>
              </a:rPr>
              <a:t>reaches systems</a:t>
            </a:r>
          </a:p>
        </p:txBody>
      </p:sp>
      <p:sp>
        <p:nvSpPr>
          <p:cNvPr id="29" name="Chevron 28"/>
          <p:cNvSpPr/>
          <p:nvPr/>
        </p:nvSpPr>
        <p:spPr>
          <a:xfrm>
            <a:off x="5779008" y="4279392"/>
            <a:ext cx="256032" cy="164592"/>
          </a:xfrm>
          <a:prstGeom prst="chevron">
            <a:avLst/>
          </a:prstGeom>
          <a:solidFill>
            <a:srgbClr val="756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016752" y="4142232"/>
            <a:ext cx="512064" cy="512064"/>
          </a:xfrm>
          <a:prstGeom prst="ellipse">
            <a:avLst/>
          </a:prstGeom>
          <a:solidFill>
            <a:srgbClr val="F7F2E8"/>
          </a:solidFill>
          <a:ln w="1524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8521" bIns="51206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2D2A26"/>
                </a:solidFill>
                <a:latin typeface="Aptos"/>
              </a:rPr>
              <a:t>7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75120" y="4123944"/>
            <a:ext cx="1389888" cy="566928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9260" bIns="25603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2D2A26"/>
                </a:solidFill>
                <a:latin typeface="Aptos"/>
              </a:rPr>
              <a:t>Rules / Guardrails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4764024"/>
            <a:ext cx="1417320" cy="347472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756E66"/>
                </a:solidFill>
                <a:latin typeface="Aptos"/>
              </a:rPr>
              <a:t>constrain behavior</a:t>
            </a:r>
          </a:p>
        </p:txBody>
      </p:sp>
      <p:sp>
        <p:nvSpPr>
          <p:cNvPr id="33" name="Chevron 32"/>
          <p:cNvSpPr/>
          <p:nvPr/>
        </p:nvSpPr>
        <p:spPr>
          <a:xfrm>
            <a:off x="8229600" y="4279392"/>
            <a:ext cx="256032" cy="164592"/>
          </a:xfrm>
          <a:prstGeom prst="chevron">
            <a:avLst/>
          </a:prstGeom>
          <a:solidFill>
            <a:srgbClr val="756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467344" y="4142232"/>
            <a:ext cx="512064" cy="512064"/>
          </a:xfrm>
          <a:prstGeom prst="ellipse">
            <a:avLst/>
          </a:prstGeom>
          <a:solidFill>
            <a:srgbClr val="F7F2E8"/>
          </a:solidFill>
          <a:ln w="1524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8521" bIns="51206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2D2A26"/>
                </a:solidFill>
                <a:latin typeface="Aptos"/>
              </a:rPr>
              <a:t>8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25712" y="4123944"/>
            <a:ext cx="1389888" cy="566928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9260" bIns="25603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2D2A26"/>
                </a:solidFill>
                <a:latin typeface="Aptos"/>
              </a:rPr>
              <a:t>Hooks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25712" y="4764024"/>
            <a:ext cx="1417320" cy="347472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756E66"/>
                </a:solidFill>
                <a:latin typeface="Aptos"/>
              </a:rPr>
              <a:t>run checks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49808" y="658368"/>
            <a:ext cx="201168" cy="36576"/>
          </a:xfrm>
          <a:prstGeom prst="rect">
            <a:avLst/>
          </a:prstGeom>
          <a:solidFill>
            <a:srgbClr val="5C8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475488"/>
            <a:ext cx="3474720" cy="36576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756E66"/>
                </a:solidFill>
                <a:latin typeface="Aptos"/>
              </a:rPr>
              <a:t>CHEAT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87552"/>
            <a:ext cx="5532120" cy="1371600"/>
          </a:xfrm>
          <a:prstGeom prst="rect">
            <a:avLst/>
          </a:prstGeom>
          <a:noFill/>
        </p:spPr>
        <p:txBody>
          <a:bodyPr wrap="square" lIns="0" rIns="0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D2A26"/>
                </a:solidFill>
                <a:latin typeface="Aptos Display"/>
              </a:rPr>
              <a:t>Screenshot this slide. It is the whole vocabulary in one place.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901952"/>
            <a:ext cx="4983480" cy="4526280"/>
          </a:xfrm>
          <a:prstGeom prst="roundRect">
            <a:avLst/>
          </a:prstGeom>
          <a:solidFill>
            <a:srgbClr val="DFD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8" y="1828800"/>
            <a:ext cx="4983480" cy="4526280"/>
          </a:xfrm>
          <a:prstGeom prst="roundRect">
            <a:avLst/>
          </a:prstGeom>
          <a:solidFill>
            <a:srgbClr val="FFFAF1"/>
          </a:solidFill>
          <a:ln w="1651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55664" y="1901952"/>
            <a:ext cx="4983480" cy="4526280"/>
          </a:xfrm>
          <a:prstGeom prst="roundRect">
            <a:avLst/>
          </a:prstGeom>
          <a:solidFill>
            <a:srgbClr val="DFD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82512" y="1828800"/>
            <a:ext cx="4983480" cy="4526280"/>
          </a:xfrm>
          <a:prstGeom prst="roundRect">
            <a:avLst/>
          </a:prstGeom>
          <a:solidFill>
            <a:srgbClr val="FFFAF1"/>
          </a:solidFill>
          <a:ln w="1651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78992" y="2176272"/>
            <a:ext cx="1298448" cy="475488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D6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9260" bIns="25603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756E66"/>
                </a:solidFill>
                <a:latin typeface="Aptos"/>
              </a:rPr>
              <a:t>model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05456" y="2176272"/>
            <a:ext cx="2926080" cy="475488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8521" bIns="51206"/>
          <a:lstStyle/>
          <a:p>
            <a:pPr algn="l">
              <a:lnSpc>
                <a:spcPct val="100000"/>
              </a:lnSpc>
            </a:pPr>
            <a:r>
              <a:rPr sz="1240" b="1">
                <a:solidFill>
                  <a:srgbClr val="2D2A26"/>
                </a:solidFill>
                <a:latin typeface="Aptos"/>
              </a:rPr>
              <a:t>generates the next output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78992" y="2761488"/>
            <a:ext cx="1298448" cy="475488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D6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9260" bIns="25603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756E66"/>
                </a:solidFill>
                <a:latin typeface="Aptos"/>
              </a:rPr>
              <a:t>harness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05456" y="2761488"/>
            <a:ext cx="2926080" cy="475488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8521" bIns="51206"/>
          <a:lstStyle/>
          <a:p>
            <a:pPr algn="l">
              <a:lnSpc>
                <a:spcPct val="100000"/>
              </a:lnSpc>
            </a:pPr>
            <a:r>
              <a:rPr sz="1240" b="1">
                <a:solidFill>
                  <a:srgbClr val="2D2A26"/>
                </a:solidFill>
                <a:latin typeface="Aptos"/>
              </a:rPr>
              <a:t>runtime around the model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78992" y="3346704"/>
            <a:ext cx="1298448" cy="475488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D6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9260" bIns="25603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756E66"/>
                </a:solidFill>
                <a:latin typeface="Aptos"/>
              </a:rPr>
              <a:t>agent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05456" y="3346704"/>
            <a:ext cx="2926080" cy="475488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8521" bIns="51206"/>
          <a:lstStyle/>
          <a:p>
            <a:pPr algn="l">
              <a:lnSpc>
                <a:spcPct val="100000"/>
              </a:lnSpc>
            </a:pPr>
            <a:r>
              <a:rPr sz="1240" b="1">
                <a:solidFill>
                  <a:srgbClr val="2D2A26"/>
                </a:solidFill>
                <a:latin typeface="Aptos"/>
              </a:rPr>
              <a:t>goal-seeking execution loop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78992" y="3931920"/>
            <a:ext cx="1298448" cy="475488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D6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9260" bIns="25603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756E66"/>
                </a:solidFill>
                <a:latin typeface="Aptos"/>
              </a:rPr>
              <a:t>request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05456" y="3931920"/>
            <a:ext cx="2926080" cy="475488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8521" bIns="51206"/>
          <a:lstStyle/>
          <a:p>
            <a:pPr algn="l">
              <a:lnSpc>
                <a:spcPct val="100000"/>
              </a:lnSpc>
            </a:pPr>
            <a:r>
              <a:rPr sz="1240" b="1">
                <a:solidFill>
                  <a:srgbClr val="2D2A26"/>
                </a:solidFill>
                <a:latin typeface="Aptos"/>
              </a:rPr>
              <a:t>the current ask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78992" y="4517136"/>
            <a:ext cx="1298448" cy="475488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D6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9260" bIns="25603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756E66"/>
                </a:solidFill>
                <a:latin typeface="Aptos"/>
              </a:rPr>
              <a:t>instructions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05456" y="4517136"/>
            <a:ext cx="2926080" cy="475488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8521" bIns="51206"/>
          <a:lstStyle/>
          <a:p>
            <a:pPr algn="l">
              <a:lnSpc>
                <a:spcPct val="100000"/>
              </a:lnSpc>
            </a:pPr>
            <a:r>
              <a:rPr sz="1240" b="1">
                <a:solidFill>
                  <a:srgbClr val="2D2A26"/>
                </a:solidFill>
                <a:latin typeface="Aptos"/>
              </a:rPr>
              <a:t>standing guidance around the ask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78992" y="5102351"/>
            <a:ext cx="1298448" cy="475488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D6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9260" bIns="25603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756E66"/>
                </a:solidFill>
                <a:latin typeface="Aptos"/>
              </a:rPr>
              <a:t>rules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05456" y="5102351"/>
            <a:ext cx="2926080" cy="475488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8521" bIns="51206"/>
          <a:lstStyle/>
          <a:p>
            <a:pPr algn="l">
              <a:lnSpc>
                <a:spcPct val="100000"/>
              </a:lnSpc>
            </a:pPr>
            <a:r>
              <a:rPr sz="1240" b="1">
                <a:solidFill>
                  <a:srgbClr val="2D2A26"/>
                </a:solidFill>
                <a:latin typeface="Aptos"/>
              </a:rPr>
              <a:t>hard boundaries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78992" y="5687567"/>
            <a:ext cx="1298448" cy="475488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D6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9260" bIns="25603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756E66"/>
                </a:solidFill>
                <a:latin typeface="Aptos"/>
              </a:rPr>
              <a:t>skill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05456" y="5687567"/>
            <a:ext cx="2926080" cy="475488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8521" bIns="51206"/>
          <a:lstStyle/>
          <a:p>
            <a:pPr algn="l">
              <a:lnSpc>
                <a:spcPct val="100000"/>
              </a:lnSpc>
            </a:pPr>
            <a:r>
              <a:rPr sz="1240" b="1">
                <a:solidFill>
                  <a:srgbClr val="2D2A26"/>
                </a:solidFill>
                <a:latin typeface="Aptos"/>
              </a:rPr>
              <a:t>reusable workflow logic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20256" y="2176272"/>
            <a:ext cx="1298448" cy="475488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D6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9260" bIns="25603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756E66"/>
                </a:solidFill>
                <a:latin typeface="Aptos"/>
              </a:rPr>
              <a:t>plugin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2176272"/>
            <a:ext cx="2926080" cy="475488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8521" bIns="51206"/>
          <a:lstStyle/>
          <a:p>
            <a:pPr algn="l">
              <a:lnSpc>
                <a:spcPct val="100000"/>
              </a:lnSpc>
            </a:pPr>
            <a:r>
              <a:rPr sz="1240" b="1">
                <a:solidFill>
                  <a:srgbClr val="2D2A26"/>
                </a:solidFill>
                <a:latin typeface="Aptos"/>
              </a:rPr>
              <a:t>added capability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20256" y="2761488"/>
            <a:ext cx="1298448" cy="475488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D6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9260" bIns="25603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756E66"/>
                </a:solidFill>
                <a:latin typeface="Aptos"/>
              </a:rPr>
              <a:t>MCP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2761488"/>
            <a:ext cx="2926080" cy="475488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8521" bIns="51206"/>
          <a:lstStyle/>
          <a:p>
            <a:pPr algn="l">
              <a:lnSpc>
                <a:spcPct val="100000"/>
              </a:lnSpc>
            </a:pPr>
            <a:r>
              <a:rPr sz="1240" b="1">
                <a:solidFill>
                  <a:srgbClr val="2D2A26"/>
                </a:solidFill>
                <a:latin typeface="Aptos"/>
              </a:rPr>
              <a:t>common connection standard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20256" y="3346704"/>
            <a:ext cx="1298448" cy="475488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D6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9260" bIns="25603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756E66"/>
                </a:solidFill>
                <a:latin typeface="Aptos"/>
              </a:rPr>
              <a:t>CLI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3346704"/>
            <a:ext cx="2926080" cy="475488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8521" bIns="51206"/>
          <a:lstStyle/>
          <a:p>
            <a:pPr algn="l">
              <a:lnSpc>
                <a:spcPct val="100000"/>
              </a:lnSpc>
            </a:pPr>
            <a:r>
              <a:rPr sz="1240" b="1">
                <a:solidFill>
                  <a:srgbClr val="2D2A26"/>
                </a:solidFill>
                <a:latin typeface="Aptos"/>
              </a:rPr>
              <a:t>command surface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20256" y="3931920"/>
            <a:ext cx="1298448" cy="475488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D6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9260" bIns="25603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756E66"/>
                </a:solidFill>
                <a:latin typeface="Aptos"/>
              </a:rPr>
              <a:t>token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3931920"/>
            <a:ext cx="2926080" cy="475488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8521" bIns="51206"/>
          <a:lstStyle/>
          <a:p>
            <a:pPr algn="l">
              <a:lnSpc>
                <a:spcPct val="100000"/>
              </a:lnSpc>
            </a:pPr>
            <a:r>
              <a:rPr sz="1240" b="1">
                <a:solidFill>
                  <a:srgbClr val="2D2A26"/>
                </a:solidFill>
                <a:latin typeface="Aptos"/>
              </a:rPr>
              <a:t>small unit of text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20256" y="4517136"/>
            <a:ext cx="1298448" cy="475488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D6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9260" bIns="25603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756E66"/>
                </a:solidFill>
                <a:latin typeface="Aptos"/>
              </a:rPr>
              <a:t>context window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20" y="4517136"/>
            <a:ext cx="2926080" cy="475488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8521" bIns="51206"/>
          <a:lstStyle/>
          <a:p>
            <a:pPr algn="l">
              <a:lnSpc>
                <a:spcPct val="100000"/>
              </a:lnSpc>
            </a:pPr>
            <a:r>
              <a:rPr sz="1240" b="1">
                <a:solidFill>
                  <a:srgbClr val="2D2A26"/>
                </a:solidFill>
                <a:latin typeface="Aptos"/>
              </a:rPr>
              <a:t>active information capacity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20256" y="5102351"/>
            <a:ext cx="1298448" cy="475488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D6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9260" bIns="25603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756E66"/>
                </a:solidFill>
                <a:latin typeface="Aptos"/>
              </a:rPr>
              <a:t>hook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20" y="5102351"/>
            <a:ext cx="2926080" cy="475488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8521" bIns="51206"/>
          <a:lstStyle/>
          <a:p>
            <a:pPr algn="l">
              <a:lnSpc>
                <a:spcPct val="100000"/>
              </a:lnSpc>
            </a:pPr>
            <a:r>
              <a:rPr sz="1240" b="1">
                <a:solidFill>
                  <a:srgbClr val="2D2A26"/>
                </a:solidFill>
                <a:latin typeface="Aptos"/>
              </a:rPr>
              <a:t>trigger point in the process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20256" y="5687567"/>
            <a:ext cx="1298448" cy="475488"/>
          </a:xfrm>
          <a:prstGeom prst="roundRect">
            <a:avLst/>
          </a:prstGeom>
          <a:solidFill>
            <a:srgbClr val="F7F2E8"/>
          </a:solidFill>
          <a:ln w="12700">
            <a:solidFill>
              <a:srgbClr val="D6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9260" bIns="25603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756E66"/>
                </a:solidFill>
                <a:latin typeface="Aptos"/>
              </a:rPr>
              <a:t>guardrails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20" y="5687567"/>
            <a:ext cx="2926080" cy="475488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8521" bIns="51206"/>
          <a:lstStyle/>
          <a:p>
            <a:pPr algn="l">
              <a:lnSpc>
                <a:spcPct val="100000"/>
              </a:lnSpc>
            </a:pPr>
            <a:r>
              <a:rPr sz="1240" b="1">
                <a:solidFill>
                  <a:srgbClr val="2D2A26"/>
                </a:solidFill>
                <a:latin typeface="Aptos"/>
              </a:rPr>
              <a:t>layered safety checks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